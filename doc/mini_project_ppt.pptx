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2" r:id="rId1"/>
    <p:sldMasterId id="2147484401" r:id="rId2"/>
  </p:sldMasterIdLst>
  <p:notesMasterIdLst>
    <p:notesMasterId r:id="rId19"/>
  </p:notesMasterIdLst>
  <p:sldIdLst>
    <p:sldId id="260" r:id="rId3"/>
    <p:sldId id="267" r:id="rId4"/>
    <p:sldId id="271" r:id="rId5"/>
    <p:sldId id="257" r:id="rId6"/>
    <p:sldId id="281" r:id="rId7"/>
    <p:sldId id="282" r:id="rId8"/>
    <p:sldId id="265" r:id="rId9"/>
    <p:sldId id="258" r:id="rId10"/>
    <p:sldId id="275" r:id="rId11"/>
    <p:sldId id="274" r:id="rId12"/>
    <p:sldId id="273" r:id="rId13"/>
    <p:sldId id="283" r:id="rId14"/>
    <p:sldId id="278" r:id="rId15"/>
    <p:sldId id="284" r:id="rId16"/>
    <p:sldId id="280" r:id="rId17"/>
    <p:sldId id="26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autoAdjust="0"/>
  </p:normalViewPr>
  <p:slideViewPr>
    <p:cSldViewPr snapToGrid="0">
      <p:cViewPr varScale="1">
        <p:scale>
          <a:sx n="82" d="100"/>
          <a:sy n="82" d="100"/>
        </p:scale>
        <p:origin x="71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423023-5095-49C2-8E0D-5F444A52A5A3}" type="datetimeFigureOut">
              <a:rPr lang="en-US" smtClean="0"/>
              <a:pPr/>
              <a:t>10/3/2025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82FE9A-E188-4893-A955-A01CE006802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accent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4" name="Group 13">
            <a:extLst>
              <a:ext uri="{FF2B5EF4-FFF2-40B4-BE49-F238E27FC236}">
                <a16:creationId xmlns:a16="http://schemas.microsoft.com/office/drawing/2014/main" id="{0DC2055F-AE3F-46BE-B57E-A0F1A86D1C36}"/>
              </a:ext>
            </a:extLst>
          </p:cNvPr>
          <p:cNvGrpSpPr/>
          <p:nvPr/>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72999" y="1312605"/>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6" name="Group 13">
            <a:extLst>
              <a:ext uri="{FF2B5EF4-FFF2-40B4-BE49-F238E27FC236}">
                <a16:creationId xmlns:a16="http://schemas.microsoft.com/office/drawing/2014/main" id="{0DC2055F-AE3F-46BE-B57E-A0F1A86D1C36}"/>
              </a:ext>
            </a:extLst>
          </p:cNvPr>
          <p:cNvGrpSpPr/>
          <p:nvPr/>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1408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333" userDrawn="1">
          <p15:clr>
            <a:srgbClr val="FBAE40"/>
          </p15:clr>
        </p15:guide>
        <p15:guide id="4" pos="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pic>
        <p:nvPicPr>
          <p:cNvPr id="8" name="Picture 7">
            <a:extLst>
              <a:ext uri="{FF2B5EF4-FFF2-40B4-BE49-F238E27FC236}">
                <a16:creationId xmlns:a16="http://schemas.microsoft.com/office/drawing/2014/main" id="{25FC40B0-ED27-47E5-A3C2-32A8418567EE}"/>
              </a:ext>
            </a:extLst>
          </p:cNvPr>
          <p:cNvPicPr>
            <a:picLocks noChangeAspect="1"/>
          </p:cNvPicPr>
          <p:nvPr/>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E3D1FF4C-2068-4BA9-9B4D-17B36DE2EA0F}" type="slidenum">
              <a:rPr lang="en-IN" smtClean="0"/>
              <a:pPr/>
              <a:t>‹#›</a:t>
            </a:fld>
            <a:endParaRPr lang="en-IN" dirty="0"/>
          </a:p>
        </p:txBody>
      </p:sp>
      <p:sp>
        <p:nvSpPr>
          <p:cNvPr id="15" name="Picture Placeholder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76"/>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a:t>Click icon to add picture</a:t>
            </a:r>
            <a:endParaRPr lang="en-US" noProof="0" dirty="0"/>
          </a:p>
        </p:txBody>
      </p:sp>
    </p:spTree>
    <p:extLst>
      <p:ext uri="{BB962C8B-B14F-4D97-AF65-F5344CB8AC3E}">
        <p14:creationId xmlns:p14="http://schemas.microsoft.com/office/powerpoint/2010/main" val="27504955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with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E9886-36F0-4E06-A3A6-D8F00B0665A1}"/>
              </a:ext>
            </a:extLst>
          </p:cNvPr>
          <p:cNvSpPr>
            <a:spLocks noGrp="1"/>
          </p:cNvSpPr>
          <p:nvPr>
            <p:ph idx="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grpSp>
        <p:nvGrpSpPr>
          <p:cNvPr id="2" name="Group 9">
            <a:extLst>
              <a:ext uri="{FF2B5EF4-FFF2-40B4-BE49-F238E27FC236}">
                <a16:creationId xmlns:a16="http://schemas.microsoft.com/office/drawing/2014/main" id="{42E17FB3-B5C4-4B3A-A57B-C6493A9D0C66}"/>
              </a:ext>
            </a:extLst>
          </p:cNvPr>
          <p:cNvGrpSpPr/>
          <p:nvPr/>
        </p:nvGrpSpPr>
        <p:grpSpPr>
          <a:xfrm rot="8650774">
            <a:off x="5037655" y="4336093"/>
            <a:ext cx="1905000" cy="2354263"/>
            <a:chOff x="11114088" y="2241550"/>
            <a:chExt cx="1905000" cy="2354263"/>
          </a:xfrm>
          <a:solidFill>
            <a:schemeClr val="bg2"/>
          </a:solidFill>
        </p:grpSpPr>
        <p:sp>
          <p:nvSpPr>
            <p:cNvPr id="11" name="Freeform 5">
              <a:extLst>
                <a:ext uri="{FF2B5EF4-FFF2-40B4-BE49-F238E27FC236}">
                  <a16:creationId xmlns:a16="http://schemas.microsoft.com/office/drawing/2014/main" id="{DCA6C454-F761-4265-BB5E-DFD947CC3592}"/>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2" name="Freeform 6">
              <a:extLst>
                <a:ext uri="{FF2B5EF4-FFF2-40B4-BE49-F238E27FC236}">
                  <a16:creationId xmlns:a16="http://schemas.microsoft.com/office/drawing/2014/main" id="{6B853B2F-9E1C-4AC4-9344-8610498D5B5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7">
              <a:extLst>
                <a:ext uri="{FF2B5EF4-FFF2-40B4-BE49-F238E27FC236}">
                  <a16:creationId xmlns:a16="http://schemas.microsoft.com/office/drawing/2014/main" id="{B7FCC84B-2235-4948-8277-8363DFC691A4}"/>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
        <p:nvSpPr>
          <p:cNvPr id="23" name="Picture Placeholder 22">
            <a:extLst>
              <a:ext uri="{FF2B5EF4-FFF2-40B4-BE49-F238E27FC236}">
                <a16:creationId xmlns:a16="http://schemas.microsoft.com/office/drawing/2014/main" id="{26619E66-5354-4D60-8529-27917AC037C0}"/>
              </a:ext>
            </a:extLst>
          </p:cNvPr>
          <p:cNvSpPr>
            <a:spLocks noGrp="1"/>
          </p:cNvSpPr>
          <p:nvPr>
            <p:ph type="pic" sz="quarter" idx="13"/>
          </p:nvPr>
        </p:nvSpPr>
        <p:spPr>
          <a:xfrm>
            <a:off x="5884648" y="0"/>
            <a:ext cx="6307353"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US" noProof="0" dirty="0"/>
          </a:p>
        </p:txBody>
      </p:sp>
      <p:sp>
        <p:nvSpPr>
          <p:cNvPr id="14" name="Title 1">
            <a:extLst>
              <a:ext uri="{FF2B5EF4-FFF2-40B4-BE49-F238E27FC236}">
                <a16:creationId xmlns:a16="http://schemas.microsoft.com/office/drawing/2014/main" id="{2E646B4F-6CCB-724C-9D5E-6D5770023939}"/>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169620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
        <p:nvSpPr>
          <p:cNvPr id="14" name="Rectangle 13">
            <a:extLst>
              <a:ext uri="{FF2B5EF4-FFF2-40B4-BE49-F238E27FC236}">
                <a16:creationId xmlns:a16="http://schemas.microsoft.com/office/drawing/2014/main" id="{9D415693-E2CB-4DB4-B07C-2F96B0CAB302}"/>
              </a:ext>
            </a:extLst>
          </p:cNvPr>
          <p:cNvSpPr/>
          <p:nvPr/>
        </p:nvSpPr>
        <p:spPr>
          <a:xfrm>
            <a:off x="7854462" y="988536"/>
            <a:ext cx="4329129"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14C1BF67-E354-4E04-8F94-BABF2B7D1AFB}"/>
              </a:ext>
            </a:extLst>
          </p:cNvPr>
          <p:cNvSpPr/>
          <p:nvPr/>
        </p:nvSpPr>
        <p:spPr>
          <a:xfrm>
            <a:off x="5107816" y="633613"/>
            <a:ext cx="5571908"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icture Placeholder 5">
            <a:extLst>
              <a:ext uri="{FF2B5EF4-FFF2-40B4-BE49-F238E27FC236}">
                <a16:creationId xmlns:a16="http://schemas.microsoft.com/office/drawing/2014/main" id="{FF6AC390-6F85-4B64-AE7A-E8E0D8FC89CF}"/>
              </a:ext>
            </a:extLst>
          </p:cNvPr>
          <p:cNvSpPr>
            <a:spLocks noGrp="1"/>
          </p:cNvSpPr>
          <p:nvPr>
            <p:ph type="pic" sz="quarter" idx="13"/>
          </p:nvPr>
        </p:nvSpPr>
        <p:spPr>
          <a:xfrm>
            <a:off x="5455212" y="988536"/>
            <a:ext cx="4884848" cy="4884848"/>
          </a:xfrm>
          <a:prstGeom prst="ellipse">
            <a:avLst/>
          </a:prstGeo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196998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p:nvSpPr>
        <p:spPr>
          <a:xfrm>
            <a:off x="8308181"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E799E3E2-888B-2343-9A63-F84C03265CB5}"/>
              </a:ext>
            </a:extLst>
          </p:cNvPr>
          <p:cNvSpPr>
            <a:spLocks noChangeAspect="1"/>
          </p:cNvSpPr>
          <p:nvPr/>
        </p:nvSpPr>
        <p:spPr>
          <a:xfrm>
            <a:off x="9833702" y="1823757"/>
            <a:ext cx="832104"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Picture Placeholder 11">
            <a:extLst>
              <a:ext uri="{FF2B5EF4-FFF2-40B4-BE49-F238E27FC236}">
                <a16:creationId xmlns:a16="http://schemas.microsoft.com/office/drawing/2014/main" id="{8FEDE8EF-5B7A-A741-9A56-D365CAE01B62}"/>
              </a:ext>
            </a:extLst>
          </p:cNvPr>
          <p:cNvSpPr>
            <a:spLocks noGrp="1"/>
          </p:cNvSpPr>
          <p:nvPr>
            <p:ph type="pic" sz="quarter" idx="19" hasCustomPrompt="1"/>
          </p:nvPr>
        </p:nvSpPr>
        <p:spPr>
          <a:xfrm>
            <a:off x="9998318"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
        <p:nvSpPr>
          <p:cNvPr id="9" name="Rectangle 8">
            <a:extLst>
              <a:ext uri="{FF2B5EF4-FFF2-40B4-BE49-F238E27FC236}">
                <a16:creationId xmlns:a16="http://schemas.microsoft.com/office/drawing/2014/main" id="{3755C1FB-E61C-4BBC-8179-D34908DEA1B6}"/>
              </a:ext>
            </a:extLst>
          </p:cNvPr>
          <p:cNvSpPr/>
          <p:nvPr/>
        </p:nvSpPr>
        <p:spPr>
          <a:xfrm>
            <a:off x="0"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8C1E0992-271E-4948-9461-C7AA54AF8FEA}"/>
              </a:ext>
            </a:extLst>
          </p:cNvPr>
          <p:cNvSpPr>
            <a:spLocks noChangeAspect="1"/>
          </p:cNvSpPr>
          <p:nvPr/>
        </p:nvSpPr>
        <p:spPr>
          <a:xfrm>
            <a:off x="1526011" y="1823757"/>
            <a:ext cx="832104"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6" y="3207024"/>
            <a:ext cx="3445566"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6" name="Picture Placeholder 5">
            <a:extLst>
              <a:ext uri="{FF2B5EF4-FFF2-40B4-BE49-F238E27FC236}">
                <a16:creationId xmlns:a16="http://schemas.microsoft.com/office/drawing/2014/main" id="{35B71D50-AA4B-4E0C-8F6A-0F64F2C8A8C7}"/>
              </a:ext>
            </a:extLst>
          </p:cNvPr>
          <p:cNvSpPr>
            <a:spLocks noGrp="1"/>
          </p:cNvSpPr>
          <p:nvPr>
            <p:ph type="pic" sz="quarter" idx="13"/>
          </p:nvPr>
        </p:nvSpPr>
        <p:spPr>
          <a:xfrm>
            <a:off x="3883819" y="1630018"/>
            <a:ext cx="4424362" cy="4373217"/>
          </a:xfrm>
          <a:solidFill>
            <a:schemeClr val="bg2">
              <a:lumMod val="90000"/>
            </a:schemeClr>
          </a:solidFill>
        </p:spPr>
        <p:txBody>
          <a:bodyPr anchor="ctr"/>
          <a:lstStyle>
            <a:lvl1pPr marL="0" indent="0" algn="ctr">
              <a:buNone/>
              <a:defRPr/>
            </a:lvl1pPr>
          </a:lstStyle>
          <a:p>
            <a:r>
              <a:rPr lang="en-US" noProof="0"/>
              <a:t>Click icon to add picture</a:t>
            </a:r>
            <a:endParaRPr lang="en-US" noProof="0" dirty="0"/>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8527490" y="3207024"/>
            <a:ext cx="3445200"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6"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8527124"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12" name="Picture Placeholder 11">
            <a:extLst>
              <a:ext uri="{FF2B5EF4-FFF2-40B4-BE49-F238E27FC236}">
                <a16:creationId xmlns:a16="http://schemas.microsoft.com/office/drawing/2014/main" id="{483B974E-5202-4EAD-9D55-4129C84BAE87}"/>
              </a:ext>
            </a:extLst>
          </p:cNvPr>
          <p:cNvSpPr>
            <a:spLocks noGrp="1"/>
          </p:cNvSpPr>
          <p:nvPr>
            <p:ph type="pic" sz="quarter" idx="17" hasCustomPrompt="1"/>
          </p:nvPr>
        </p:nvSpPr>
        <p:spPr>
          <a:xfrm>
            <a:off x="1690627"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174103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Layou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B6EB0C6-606C-4AFB-8FF8-AB43606B95BD}"/>
              </a:ext>
            </a:extLst>
          </p:cNvPr>
          <p:cNvSpPr/>
          <p:nvPr/>
        </p:nvSpPr>
        <p:spPr>
          <a:xfrm>
            <a:off x="6599236" y="4707908"/>
            <a:ext cx="5592763"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5CE6D5A-A5C0-4B12-A26A-691D5743FA5C}"/>
              </a:ext>
            </a:extLst>
          </p:cNvPr>
          <p:cNvSpPr/>
          <p:nvPr/>
        </p:nvSpPr>
        <p:spPr>
          <a:xfrm>
            <a:off x="-82063" y="1648186"/>
            <a:ext cx="5709139"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680934" y="2863158"/>
            <a:ext cx="4074002" cy="2846648"/>
          </a:xfrm>
        </p:spPr>
        <p:txBody>
          <a:bodyPr lIns="0" tIns="0" rIns="0" bIns="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2"/>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1309370" y="1903728"/>
            <a:ext cx="3445566" cy="495389"/>
          </a:xfrm>
        </p:spPr>
        <p:txBody>
          <a:bodyPr lIns="0" tIns="0" rIns="0" bIns="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01 comes here</a:t>
            </a:r>
          </a:p>
        </p:txBody>
      </p:sp>
      <p:sp>
        <p:nvSpPr>
          <p:cNvPr id="23" name="Content Placeholder 2">
            <a:extLst>
              <a:ext uri="{FF2B5EF4-FFF2-40B4-BE49-F238E27FC236}">
                <a16:creationId xmlns:a16="http://schemas.microsoft.com/office/drawing/2014/main" id="{E5123CE7-2F8A-489B-BD99-0C2A33ADF49A}"/>
              </a:ext>
            </a:extLst>
          </p:cNvPr>
          <p:cNvSpPr>
            <a:spLocks noGrp="1"/>
          </p:cNvSpPr>
          <p:nvPr>
            <p:ph idx="19" hasCustomPrompt="1"/>
          </p:nvPr>
        </p:nvSpPr>
        <p:spPr>
          <a:xfrm>
            <a:off x="7327918" y="1648186"/>
            <a:ext cx="4074002" cy="2834508"/>
          </a:xfrm>
        </p:spPr>
        <p:txBody>
          <a:bodyPr lIns="0" tIns="0" rIns="0" bIns="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5" name="Content Placeholder 2">
            <a:extLst>
              <a:ext uri="{FF2B5EF4-FFF2-40B4-BE49-F238E27FC236}">
                <a16:creationId xmlns:a16="http://schemas.microsoft.com/office/drawing/2014/main" id="{07730BCF-AC2A-4FEC-8F01-63964DB444CF}"/>
              </a:ext>
            </a:extLst>
          </p:cNvPr>
          <p:cNvSpPr>
            <a:spLocks noGrp="1"/>
          </p:cNvSpPr>
          <p:nvPr>
            <p:ph idx="20" hasCustomPrompt="1"/>
          </p:nvPr>
        </p:nvSpPr>
        <p:spPr>
          <a:xfrm>
            <a:off x="7475709" y="4963450"/>
            <a:ext cx="3445566" cy="495389"/>
          </a:xfrm>
        </p:spPr>
        <p:txBody>
          <a:bodyPr lIns="0" tIns="0" rIns="0" bIns="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02 comes here</a:t>
            </a:r>
          </a:p>
        </p:txBody>
      </p:sp>
      <p:sp>
        <p:nvSpPr>
          <p:cNvPr id="21" name="Oval 20">
            <a:extLst>
              <a:ext uri="{FF2B5EF4-FFF2-40B4-BE49-F238E27FC236}">
                <a16:creationId xmlns:a16="http://schemas.microsoft.com/office/drawing/2014/main" id="{919C8692-230B-D543-A7F7-4FD61B04D1C6}"/>
              </a:ext>
            </a:extLst>
          </p:cNvPr>
          <p:cNvSpPr>
            <a:spLocks noChangeAspect="1"/>
          </p:cNvSpPr>
          <p:nvPr/>
        </p:nvSpPr>
        <p:spPr>
          <a:xfrm>
            <a:off x="5084763" y="1652762"/>
            <a:ext cx="1001899"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11">
            <a:extLst>
              <a:ext uri="{FF2B5EF4-FFF2-40B4-BE49-F238E27FC236}">
                <a16:creationId xmlns:a16="http://schemas.microsoft.com/office/drawing/2014/main" id="{E150BFC7-A11D-CC46-B5A2-8BD93C269506}"/>
              </a:ext>
            </a:extLst>
          </p:cNvPr>
          <p:cNvSpPr>
            <a:spLocks noGrp="1"/>
          </p:cNvSpPr>
          <p:nvPr>
            <p:ph type="pic" sz="quarter" idx="21" hasCustomPrompt="1"/>
          </p:nvPr>
        </p:nvSpPr>
        <p:spPr>
          <a:xfrm>
            <a:off x="5282969" y="1850968"/>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
        <p:nvSpPr>
          <p:cNvPr id="28" name="Oval 27">
            <a:extLst>
              <a:ext uri="{FF2B5EF4-FFF2-40B4-BE49-F238E27FC236}">
                <a16:creationId xmlns:a16="http://schemas.microsoft.com/office/drawing/2014/main" id="{F95B55F4-B501-3440-8904-A1C7F049CBE8}"/>
              </a:ext>
            </a:extLst>
          </p:cNvPr>
          <p:cNvSpPr>
            <a:spLocks noChangeAspect="1"/>
          </p:cNvSpPr>
          <p:nvPr/>
        </p:nvSpPr>
        <p:spPr>
          <a:xfrm>
            <a:off x="6100576" y="4707907"/>
            <a:ext cx="1001899"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1">
            <a:extLst>
              <a:ext uri="{FF2B5EF4-FFF2-40B4-BE49-F238E27FC236}">
                <a16:creationId xmlns:a16="http://schemas.microsoft.com/office/drawing/2014/main" id="{F2116994-BE3E-6A43-9C15-E71BA8EC821F}"/>
              </a:ext>
            </a:extLst>
          </p:cNvPr>
          <p:cNvSpPr>
            <a:spLocks noGrp="1"/>
          </p:cNvSpPr>
          <p:nvPr>
            <p:ph type="pic" sz="quarter" idx="22" hasCustomPrompt="1"/>
          </p:nvPr>
        </p:nvSpPr>
        <p:spPr>
          <a:xfrm>
            <a:off x="6298782" y="4906113"/>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89140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04B31150-A166-4DB3-A898-2154C9665891}"/>
              </a:ext>
            </a:extLst>
          </p:cNvPr>
          <p:cNvGrpSpPr/>
          <p:nvPr/>
        </p:nvGrpSpPr>
        <p:grpSpPr>
          <a:xfrm rot="8650774" flipH="1" flipV="1">
            <a:off x="7430044" y="-1843126"/>
            <a:ext cx="4436224" cy="5482435"/>
            <a:chOff x="11114088" y="2241550"/>
            <a:chExt cx="1905000" cy="2354263"/>
          </a:xfrm>
          <a:solidFill>
            <a:schemeClr val="bg2">
              <a:alpha val="53000"/>
            </a:schemeClr>
          </a:solidFill>
        </p:grpSpPr>
        <p:sp>
          <p:nvSpPr>
            <p:cNvPr id="12" name="Freeform 5">
              <a:extLst>
                <a:ext uri="{FF2B5EF4-FFF2-40B4-BE49-F238E27FC236}">
                  <a16:creationId xmlns:a16="http://schemas.microsoft.com/office/drawing/2014/main" id="{1C1A95BC-42CA-4166-918D-DF4306881408}"/>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6">
              <a:extLst>
                <a:ext uri="{FF2B5EF4-FFF2-40B4-BE49-F238E27FC236}">
                  <a16:creationId xmlns:a16="http://schemas.microsoft.com/office/drawing/2014/main" id="{4B4D5F91-2158-4A30-B83C-5CC9CC6E5D4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4" name="Freeform 7">
              <a:extLst>
                <a:ext uri="{FF2B5EF4-FFF2-40B4-BE49-F238E27FC236}">
                  <a16:creationId xmlns:a16="http://schemas.microsoft.com/office/drawing/2014/main" id="{C509E5D6-79CC-4E1D-AAF4-C6F28F3C1777}"/>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156476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am Slide">
    <p:spTree>
      <p:nvGrpSpPr>
        <p:cNvPr id="1" name=""/>
        <p:cNvGrpSpPr/>
        <p:nvPr/>
      </p:nvGrpSpPr>
      <p:grpSpPr>
        <a:xfrm>
          <a:off x="0" y="0"/>
          <a:ext cx="0" cy="0"/>
          <a:chOff x="0" y="0"/>
          <a:chExt cx="0" cy="0"/>
        </a:xfrm>
      </p:grpSpPr>
      <p:grpSp>
        <p:nvGrpSpPr>
          <p:cNvPr id="2" name="Group 34">
            <a:extLst>
              <a:ext uri="{FF2B5EF4-FFF2-40B4-BE49-F238E27FC236}">
                <a16:creationId xmlns:a16="http://schemas.microsoft.com/office/drawing/2014/main" id="{431CD316-21C7-4FA9-A45A-374D6AE71ED5}"/>
              </a:ext>
            </a:extLst>
          </p:cNvPr>
          <p:cNvGrpSpPr/>
          <p:nvPr/>
        </p:nvGrpSpPr>
        <p:grpSpPr>
          <a:xfrm rot="8650774" flipH="1" flipV="1">
            <a:off x="7430044" y="-1843126"/>
            <a:ext cx="4436224" cy="5482435"/>
            <a:chOff x="11114088" y="2241550"/>
            <a:chExt cx="1905000" cy="2354263"/>
          </a:xfrm>
          <a:solidFill>
            <a:schemeClr val="bg2">
              <a:alpha val="53000"/>
            </a:schemeClr>
          </a:solidFill>
        </p:grpSpPr>
        <p:sp>
          <p:nvSpPr>
            <p:cNvPr id="36" name="Freeform 5">
              <a:extLst>
                <a:ext uri="{FF2B5EF4-FFF2-40B4-BE49-F238E27FC236}">
                  <a16:creationId xmlns:a16="http://schemas.microsoft.com/office/drawing/2014/main" id="{E107D9FB-3967-4583-A9DA-6787AF71202C}"/>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7" name="Freeform 6">
              <a:extLst>
                <a:ext uri="{FF2B5EF4-FFF2-40B4-BE49-F238E27FC236}">
                  <a16:creationId xmlns:a16="http://schemas.microsoft.com/office/drawing/2014/main" id="{138D5FEB-37FF-4F26-B625-CE2BE91FF21B}"/>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8" name="Freeform 7">
              <a:extLst>
                <a:ext uri="{FF2B5EF4-FFF2-40B4-BE49-F238E27FC236}">
                  <a16:creationId xmlns:a16="http://schemas.microsoft.com/office/drawing/2014/main" id="{6C2B67E8-673C-422C-B021-296E2E2B952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23" name="Oval 22">
            <a:extLst>
              <a:ext uri="{FF2B5EF4-FFF2-40B4-BE49-F238E27FC236}">
                <a16:creationId xmlns:a16="http://schemas.microsoft.com/office/drawing/2014/main" id="{687010E4-ADF2-486D-8DF7-B0FF38C6DADF}"/>
              </a:ext>
            </a:extLst>
          </p:cNvPr>
          <p:cNvSpPr/>
          <p:nvPr/>
        </p:nvSpPr>
        <p:spPr>
          <a:xfrm>
            <a:off x="954140"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9159AA79-2237-4A27-BBC2-D44032158D19}"/>
              </a:ext>
            </a:extLst>
          </p:cNvPr>
          <p:cNvSpPr/>
          <p:nvPr/>
        </p:nvSpPr>
        <p:spPr>
          <a:xfrm>
            <a:off x="3807539"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Oval 24">
            <a:extLst>
              <a:ext uri="{FF2B5EF4-FFF2-40B4-BE49-F238E27FC236}">
                <a16:creationId xmlns:a16="http://schemas.microsoft.com/office/drawing/2014/main" id="{0272B962-9566-42D2-B4C3-E7AA81884A83}"/>
              </a:ext>
            </a:extLst>
          </p:cNvPr>
          <p:cNvSpPr/>
          <p:nvPr/>
        </p:nvSpPr>
        <p:spPr>
          <a:xfrm>
            <a:off x="6646275"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19733285-016C-4C38-816C-83D30C075C70}"/>
              </a:ext>
            </a:extLst>
          </p:cNvPr>
          <p:cNvSpPr/>
          <p:nvPr/>
        </p:nvSpPr>
        <p:spPr>
          <a:xfrm>
            <a:off x="9498658"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EF40DBA4-AB63-4B47-B37F-BCC3D59B5392}"/>
              </a:ext>
            </a:extLst>
          </p:cNvPr>
          <p:cNvSpPr/>
          <p:nvPr/>
        </p:nvSpPr>
        <p:spPr>
          <a:xfrm>
            <a:off x="401196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33EF0AFB-D099-4FF1-8963-7DA87268867F}"/>
              </a:ext>
            </a:extLst>
          </p:cNvPr>
          <p:cNvSpPr/>
          <p:nvPr/>
        </p:nvSpPr>
        <p:spPr>
          <a:xfrm>
            <a:off x="6850703"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6872C96E-9AF3-4FA0-8180-C213C7F2209E}"/>
              </a:ext>
            </a:extLst>
          </p:cNvPr>
          <p:cNvSpPr/>
          <p:nvPr/>
        </p:nvSpPr>
        <p:spPr>
          <a:xfrm>
            <a:off x="9703086"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3A08BE29-CFA5-4E0D-9DBE-A430AE1B8072}"/>
              </a:ext>
            </a:extLst>
          </p:cNvPr>
          <p:cNvSpPr/>
          <p:nvPr/>
        </p:nvSpPr>
        <p:spPr>
          <a:xfrm>
            <a:off x="1158568"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3" name="Picture Placeholder 2">
            <a:extLst>
              <a:ext uri="{FF2B5EF4-FFF2-40B4-BE49-F238E27FC236}">
                <a16:creationId xmlns:a16="http://schemas.microsoft.com/office/drawing/2014/main" id="{B1B995BE-66C2-4379-885F-4BE069DA39E4}"/>
              </a:ext>
            </a:extLst>
          </p:cNvPr>
          <p:cNvSpPr>
            <a:spLocks noGrp="1"/>
          </p:cNvSpPr>
          <p:nvPr>
            <p:ph type="pic" sz="quarter" idx="13"/>
          </p:nvPr>
        </p:nvSpPr>
        <p:spPr>
          <a:xfrm>
            <a:off x="1103638"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1" name="Picture Placeholder 2">
            <a:extLst>
              <a:ext uri="{FF2B5EF4-FFF2-40B4-BE49-F238E27FC236}">
                <a16:creationId xmlns:a16="http://schemas.microsoft.com/office/drawing/2014/main" id="{9B56B6C6-9F3C-4E80-BBAD-280E697B895C}"/>
              </a:ext>
            </a:extLst>
          </p:cNvPr>
          <p:cNvSpPr>
            <a:spLocks noGrp="1"/>
          </p:cNvSpPr>
          <p:nvPr>
            <p:ph type="pic" sz="quarter" idx="14"/>
          </p:nvPr>
        </p:nvSpPr>
        <p:spPr>
          <a:xfrm>
            <a:off x="3957037"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2" name="Picture Placeholder 2">
            <a:extLst>
              <a:ext uri="{FF2B5EF4-FFF2-40B4-BE49-F238E27FC236}">
                <a16:creationId xmlns:a16="http://schemas.microsoft.com/office/drawing/2014/main" id="{54704160-1ED7-4B90-8963-0F887C73E94D}"/>
              </a:ext>
            </a:extLst>
          </p:cNvPr>
          <p:cNvSpPr>
            <a:spLocks noGrp="1"/>
          </p:cNvSpPr>
          <p:nvPr>
            <p:ph type="pic" sz="quarter" idx="15"/>
          </p:nvPr>
        </p:nvSpPr>
        <p:spPr>
          <a:xfrm>
            <a:off x="6795773"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3" name="Picture Placeholder 2">
            <a:extLst>
              <a:ext uri="{FF2B5EF4-FFF2-40B4-BE49-F238E27FC236}">
                <a16:creationId xmlns:a16="http://schemas.microsoft.com/office/drawing/2014/main" id="{36610597-6A76-4A06-82A5-A8FFC5BAEA0F}"/>
              </a:ext>
            </a:extLst>
          </p:cNvPr>
          <p:cNvSpPr>
            <a:spLocks noGrp="1"/>
          </p:cNvSpPr>
          <p:nvPr>
            <p:ph type="pic" sz="quarter" idx="16"/>
          </p:nvPr>
        </p:nvSpPr>
        <p:spPr>
          <a:xfrm>
            <a:off x="9648156"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27" name="Content Placeholder 2">
            <a:extLst>
              <a:ext uri="{FF2B5EF4-FFF2-40B4-BE49-F238E27FC236}">
                <a16:creationId xmlns:a16="http://schemas.microsoft.com/office/drawing/2014/main" id="{FF56D2E5-86E4-473A-A62F-B7029E5B2558}"/>
              </a:ext>
            </a:extLst>
          </p:cNvPr>
          <p:cNvSpPr>
            <a:spLocks noGrp="1"/>
          </p:cNvSpPr>
          <p:nvPr>
            <p:ph idx="1"/>
          </p:nvPr>
        </p:nvSpPr>
        <p:spPr>
          <a:xfrm>
            <a:off x="524454"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28" name="Content Placeholder 2">
            <a:extLst>
              <a:ext uri="{FF2B5EF4-FFF2-40B4-BE49-F238E27FC236}">
                <a16:creationId xmlns:a16="http://schemas.microsoft.com/office/drawing/2014/main" id="{93934E34-6CC7-492D-9515-EBEC72EFF4CB}"/>
              </a:ext>
            </a:extLst>
          </p:cNvPr>
          <p:cNvSpPr>
            <a:spLocks noGrp="1"/>
          </p:cNvSpPr>
          <p:nvPr>
            <p:ph idx="17" hasCustomPrompt="1"/>
          </p:nvPr>
        </p:nvSpPr>
        <p:spPr>
          <a:xfrm>
            <a:off x="524454"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29" name="Content Placeholder 2">
            <a:extLst>
              <a:ext uri="{FF2B5EF4-FFF2-40B4-BE49-F238E27FC236}">
                <a16:creationId xmlns:a16="http://schemas.microsoft.com/office/drawing/2014/main" id="{E4E27467-A1AA-4773-AAB5-A96267FBD712}"/>
              </a:ext>
            </a:extLst>
          </p:cNvPr>
          <p:cNvSpPr>
            <a:spLocks noGrp="1"/>
          </p:cNvSpPr>
          <p:nvPr>
            <p:ph idx="18"/>
          </p:nvPr>
        </p:nvSpPr>
        <p:spPr>
          <a:xfrm>
            <a:off x="3377853"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0" name="Content Placeholder 2">
            <a:extLst>
              <a:ext uri="{FF2B5EF4-FFF2-40B4-BE49-F238E27FC236}">
                <a16:creationId xmlns:a16="http://schemas.microsoft.com/office/drawing/2014/main" id="{6CABD5EB-4A8B-448B-8ED1-B8B420815B2D}"/>
              </a:ext>
            </a:extLst>
          </p:cNvPr>
          <p:cNvSpPr>
            <a:spLocks noGrp="1"/>
          </p:cNvSpPr>
          <p:nvPr>
            <p:ph idx="19" hasCustomPrompt="1"/>
          </p:nvPr>
        </p:nvSpPr>
        <p:spPr>
          <a:xfrm>
            <a:off x="3377853"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1" name="Content Placeholder 2">
            <a:extLst>
              <a:ext uri="{FF2B5EF4-FFF2-40B4-BE49-F238E27FC236}">
                <a16:creationId xmlns:a16="http://schemas.microsoft.com/office/drawing/2014/main" id="{0D86883C-E501-47FF-AE1A-E9CE8B71B421}"/>
              </a:ext>
            </a:extLst>
          </p:cNvPr>
          <p:cNvSpPr>
            <a:spLocks noGrp="1"/>
          </p:cNvSpPr>
          <p:nvPr>
            <p:ph idx="20"/>
          </p:nvPr>
        </p:nvSpPr>
        <p:spPr>
          <a:xfrm>
            <a:off x="6216589"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2" name="Content Placeholder 2">
            <a:extLst>
              <a:ext uri="{FF2B5EF4-FFF2-40B4-BE49-F238E27FC236}">
                <a16:creationId xmlns:a16="http://schemas.microsoft.com/office/drawing/2014/main" id="{3683A037-F698-4CC9-904D-F377D71F690F}"/>
              </a:ext>
            </a:extLst>
          </p:cNvPr>
          <p:cNvSpPr>
            <a:spLocks noGrp="1"/>
          </p:cNvSpPr>
          <p:nvPr>
            <p:ph idx="21" hasCustomPrompt="1"/>
          </p:nvPr>
        </p:nvSpPr>
        <p:spPr>
          <a:xfrm>
            <a:off x="6216589"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3" name="Content Placeholder 2">
            <a:extLst>
              <a:ext uri="{FF2B5EF4-FFF2-40B4-BE49-F238E27FC236}">
                <a16:creationId xmlns:a16="http://schemas.microsoft.com/office/drawing/2014/main" id="{0A095594-2B82-44ED-8C9B-DA7C4D3D2872}"/>
              </a:ext>
            </a:extLst>
          </p:cNvPr>
          <p:cNvSpPr>
            <a:spLocks noGrp="1"/>
          </p:cNvSpPr>
          <p:nvPr>
            <p:ph idx="22"/>
          </p:nvPr>
        </p:nvSpPr>
        <p:spPr>
          <a:xfrm>
            <a:off x="9068972"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4" name="Content Placeholder 2">
            <a:extLst>
              <a:ext uri="{FF2B5EF4-FFF2-40B4-BE49-F238E27FC236}">
                <a16:creationId xmlns:a16="http://schemas.microsoft.com/office/drawing/2014/main" id="{54CDD46A-22ED-48F5-9B5F-13B1B5C4B320}"/>
              </a:ext>
            </a:extLst>
          </p:cNvPr>
          <p:cNvSpPr>
            <a:spLocks noGrp="1"/>
          </p:cNvSpPr>
          <p:nvPr>
            <p:ph idx="23" hasCustomPrompt="1"/>
          </p:nvPr>
        </p:nvSpPr>
        <p:spPr>
          <a:xfrm>
            <a:off x="9068972"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Tree>
    <p:extLst>
      <p:ext uri="{BB962C8B-B14F-4D97-AF65-F5344CB8AC3E}">
        <p14:creationId xmlns:p14="http://schemas.microsoft.com/office/powerpoint/2010/main" val="387650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0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758E15-A93D-4FB9-843D-1490E27A151B}"/>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4" name="Group 13">
            <a:extLst>
              <a:ext uri="{FF2B5EF4-FFF2-40B4-BE49-F238E27FC236}">
                <a16:creationId xmlns:a16="http://schemas.microsoft.com/office/drawing/2014/main" id="{0DC2055F-AE3F-46BE-B57E-A0F1A86D1C36}"/>
              </a:ext>
            </a:extLst>
          </p:cNvPr>
          <p:cNvGrpSpPr/>
          <p:nvPr/>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72999" y="1844881"/>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E0FBE0E-A6B0-483E-93DD-5C20DA069DB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lvl1pPr>
          </a:lstStyle>
          <a:p>
            <a:pPr marL="228600" lvl="0" indent="-228600"/>
            <a:r>
              <a:rPr lang="en-US" noProof="0" dirty="0"/>
              <a:t>Website </a:t>
            </a:r>
            <a:r>
              <a:rPr lang="en-US" noProof="0" dirty="0" err="1"/>
              <a:t>url</a:t>
            </a:r>
            <a:r>
              <a:rPr lang="en-US" noProof="0" dirty="0"/>
              <a:t> here</a:t>
            </a:r>
          </a:p>
        </p:txBody>
      </p:sp>
      <p:pic>
        <p:nvPicPr>
          <p:cNvPr id="17" name="Graphic 16" descr="Envelope">
            <a:extLst>
              <a:ext uri="{FF2B5EF4-FFF2-40B4-BE49-F238E27FC236}">
                <a16:creationId xmlns:a16="http://schemas.microsoft.com/office/drawing/2014/main" id="{E5B30B87-6C2E-48F1-9026-E4F6BEA1CFE7}"/>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41475" y="4452337"/>
            <a:ext cx="387795" cy="387795"/>
          </a:xfrm>
          <a:prstGeom prst="rect">
            <a:avLst/>
          </a:prstGeom>
        </p:spPr>
      </p:pic>
      <p:pic>
        <p:nvPicPr>
          <p:cNvPr id="18" name="Graphic 17" descr="Network">
            <a:extLst>
              <a:ext uri="{FF2B5EF4-FFF2-40B4-BE49-F238E27FC236}">
                <a16:creationId xmlns:a16="http://schemas.microsoft.com/office/drawing/2014/main" id="{2DA3CFE0-4ED8-4345-A158-94E70F463E99}"/>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522084" y="4925640"/>
            <a:ext cx="426575" cy="426575"/>
          </a:xfrm>
          <a:prstGeom prst="rect">
            <a:avLst/>
          </a:prstGeom>
        </p:spPr>
      </p:pic>
      <p:sp>
        <p:nvSpPr>
          <p:cNvPr id="2" name="Title 1">
            <a:extLst>
              <a:ext uri="{FF2B5EF4-FFF2-40B4-BE49-F238E27FC236}">
                <a16:creationId xmlns:a16="http://schemas.microsoft.com/office/drawing/2014/main" id="{2CE9908F-CF81-43F9-880A-401D0C0FB2ED}"/>
              </a:ext>
            </a:extLst>
          </p:cNvPr>
          <p:cNvSpPr>
            <a:spLocks noGrp="1"/>
          </p:cNvSpPr>
          <p:nvPr>
            <p:ph type="title"/>
          </p:nvPr>
        </p:nvSpPr>
        <p:spPr>
          <a:xfrm>
            <a:off x="6469778" y="3429000"/>
            <a:ext cx="5011410" cy="651448"/>
          </a:xfrm>
          <a:noFill/>
        </p:spPr>
        <p:txBody>
          <a:bodyPr wrap="square" rtlCol="0">
            <a:noAutofit/>
          </a:bodyPr>
          <a:lstStyle>
            <a:lvl1pPr>
              <a:defRPr lang="en-US" sz="6000" b="1" cap="all" baseline="0">
                <a:solidFill>
                  <a:schemeClr val="accent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637136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2" name="Group 13">
            <a:extLst>
              <a:ext uri="{FF2B5EF4-FFF2-40B4-BE49-F238E27FC236}">
                <a16:creationId xmlns:a16="http://schemas.microsoft.com/office/drawing/2014/main" id="{0DC2055F-AE3F-46BE-B57E-A0F1A86D1C36}"/>
              </a:ext>
            </a:extLst>
          </p:cNvPr>
          <p:cNvGrpSpPr/>
          <p:nvPr/>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12" name="Straight Connector 11">
            <a:extLst>
              <a:ext uri="{FF2B5EF4-FFF2-40B4-BE49-F238E27FC236}">
                <a16:creationId xmlns:a16="http://schemas.microsoft.com/office/drawing/2014/main" id="{77C312F4-62C2-4903-8C4B-423A8717E481}"/>
              </a:ext>
            </a:extLst>
          </p:cNvPr>
          <p:cNvCxnSpPr/>
          <p:nvPr/>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descr="Envelope">
            <a:extLst>
              <a:ext uri="{FF2B5EF4-FFF2-40B4-BE49-F238E27FC236}">
                <a16:creationId xmlns:a16="http://schemas.microsoft.com/office/drawing/2014/main" id="{A686352B-226C-4579-B831-0DC14EC3895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541475" y="4452337"/>
            <a:ext cx="387795" cy="387795"/>
          </a:xfrm>
          <a:prstGeom prst="rect">
            <a:avLst/>
          </a:prstGeom>
        </p:spPr>
      </p:pic>
      <p:pic>
        <p:nvPicPr>
          <p:cNvPr id="20" name="Graphic 19" descr="Network">
            <a:extLst>
              <a:ext uri="{FF2B5EF4-FFF2-40B4-BE49-F238E27FC236}">
                <a16:creationId xmlns:a16="http://schemas.microsoft.com/office/drawing/2014/main" id="{460C8169-012B-451A-A6C2-6FEC0DC82AF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522084" y="4925640"/>
            <a:ext cx="426575" cy="426575"/>
          </a:xfrm>
          <a:prstGeom prst="rect">
            <a:avLst/>
          </a:prstGeom>
        </p:spPr>
      </p:pic>
      <p:sp>
        <p:nvSpPr>
          <p:cNvPr id="21" name="Subtitle 2">
            <a:extLst>
              <a:ext uri="{FF2B5EF4-FFF2-40B4-BE49-F238E27FC236}">
                <a16:creationId xmlns:a16="http://schemas.microsoft.com/office/drawing/2014/main" id="{ADF17BC1-06CE-42EA-A970-31A7ED871AA4}"/>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22" name="Text Placeholder 6">
            <a:extLst>
              <a:ext uri="{FF2B5EF4-FFF2-40B4-BE49-F238E27FC236}">
                <a16:creationId xmlns:a16="http://schemas.microsoft.com/office/drawing/2014/main" id="{7035F1B3-4E91-44FF-B4E7-E5D87C7A034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a:r>
              <a:rPr lang="en-US" noProof="0" dirty="0"/>
              <a:t>Website </a:t>
            </a:r>
            <a:r>
              <a:rPr lang="en-US" noProof="0" dirty="0" err="1"/>
              <a:t>url</a:t>
            </a:r>
            <a:r>
              <a:rPr lang="en-US" noProof="0" dirty="0"/>
              <a:t> here</a:t>
            </a:r>
          </a:p>
        </p:txBody>
      </p:sp>
      <p:sp>
        <p:nvSpPr>
          <p:cNvPr id="18" name="Title 1">
            <a:extLst>
              <a:ext uri="{FF2B5EF4-FFF2-40B4-BE49-F238E27FC236}">
                <a16:creationId xmlns:a16="http://schemas.microsoft.com/office/drawing/2014/main" id="{525B5135-F466-4A63-A42C-3BB2BAA7D24D}"/>
              </a:ext>
            </a:extLst>
          </p:cNvPr>
          <p:cNvSpPr>
            <a:spLocks noGrp="1"/>
          </p:cNvSpPr>
          <p:nvPr>
            <p:ph type="title"/>
          </p:nvPr>
        </p:nvSpPr>
        <p:spPr>
          <a:xfrm>
            <a:off x="6469778" y="3158641"/>
            <a:ext cx="5011410" cy="921807"/>
          </a:xfrm>
          <a:noFill/>
        </p:spPr>
        <p:txBody>
          <a:bodyPr wrap="square" rtlCol="0">
            <a:noAutofit/>
          </a:bodyPr>
          <a:lstStyle>
            <a:lvl1pPr>
              <a:defRPr lang="en-US" sz="6000" b="1" cap="all" baseline="0" dirty="0">
                <a:solidFill>
                  <a:schemeClr val="bg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810107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F54E98B-AC75-484D-9121-68498EB888AA}"/>
              </a:ext>
            </a:extLst>
          </p:cNvPr>
          <p:cNvSpPr/>
          <p:nvPr/>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grpSp>
        <p:nvGrpSpPr>
          <p:cNvPr id="7" name="Group 13">
            <a:extLst>
              <a:ext uri="{FF2B5EF4-FFF2-40B4-BE49-F238E27FC236}">
                <a16:creationId xmlns:a16="http://schemas.microsoft.com/office/drawing/2014/main" id="{0DC2055F-AE3F-46BE-B57E-A0F1A86D1C36}"/>
              </a:ext>
            </a:extLst>
          </p:cNvPr>
          <p:cNvGrpSpPr/>
          <p:nvPr/>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057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endParaRPr lang="en-US" noProof="0" dirty="0"/>
          </a:p>
        </p:txBody>
      </p:sp>
      <p:pic>
        <p:nvPicPr>
          <p:cNvPr id="8" name="Picture 7">
            <a:extLst>
              <a:ext uri="{FF2B5EF4-FFF2-40B4-BE49-F238E27FC236}">
                <a16:creationId xmlns:a16="http://schemas.microsoft.com/office/drawing/2014/main" id="{25FC40B0-ED27-47E5-A3C2-32A8418567EE}"/>
              </a:ext>
            </a:extLst>
          </p:cNvPr>
          <p:cNvPicPr>
            <a:picLocks noChangeAspect="1"/>
          </p:cNvPicPr>
          <p:nvPr/>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E3D1FF4C-2068-4BA9-9B4D-17B36DE2EA0F}" type="slidenum">
              <a:rPr lang="en-IN" smtClean="0"/>
              <a:pPr/>
              <a:t>‹#›</a:t>
            </a:fld>
            <a:endParaRPr lang="en-IN" dirty="0"/>
          </a:p>
        </p:txBody>
      </p:sp>
      <p:grpSp>
        <p:nvGrpSpPr>
          <p:cNvPr id="3" name="Group 3">
            <a:extLst>
              <a:ext uri="{FF2B5EF4-FFF2-40B4-BE49-F238E27FC236}">
                <a16:creationId xmlns:a16="http://schemas.microsoft.com/office/drawing/2014/main" id="{AD5251EA-F450-4DD1-995B-DC89513424C8}"/>
              </a:ext>
            </a:extLst>
          </p:cNvPr>
          <p:cNvGrpSpPr/>
          <p:nvPr/>
        </p:nvGrpSpPr>
        <p:grpSpPr>
          <a:xfrm rot="16200000">
            <a:off x="1637386" y="1473117"/>
            <a:ext cx="8917229" cy="10769768"/>
            <a:chOff x="-1728305" y="-2049517"/>
            <a:chExt cx="8917229" cy="10769768"/>
          </a:xfrm>
        </p:grpSpPr>
        <p:sp>
          <p:nvSpPr>
            <p:cNvPr id="17" name="Oval 16">
              <a:extLst>
                <a:ext uri="{FF2B5EF4-FFF2-40B4-BE49-F238E27FC236}">
                  <a16:creationId xmlns:a16="http://schemas.microsoft.com/office/drawing/2014/main" id="{44882F4E-E8C8-46FE-A9C8-7B79782767F6}"/>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4" name="Group 17">
              <a:extLst>
                <a:ext uri="{FF2B5EF4-FFF2-40B4-BE49-F238E27FC236}">
                  <a16:creationId xmlns:a16="http://schemas.microsoft.com/office/drawing/2014/main" id="{965CD13B-04FB-40D5-AF62-2F43CF49BA9B}"/>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9" name="Freeform 5">
                <a:extLst>
                  <a:ext uri="{FF2B5EF4-FFF2-40B4-BE49-F238E27FC236}">
                    <a16:creationId xmlns:a16="http://schemas.microsoft.com/office/drawing/2014/main" id="{01876F8F-C11E-4FB2-8150-1F0602752F97}"/>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08A1D05F-5F61-4156-8C83-1A002AA1E886}"/>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grpSp>
      <p:sp>
        <p:nvSpPr>
          <p:cNvPr id="21" name="Text Placeholder 2">
            <a:extLst>
              <a:ext uri="{FF2B5EF4-FFF2-40B4-BE49-F238E27FC236}">
                <a16:creationId xmlns:a16="http://schemas.microsoft.com/office/drawing/2014/main" id="{4D77C47B-CC1E-41DA-9146-5DFD63065491}"/>
              </a:ext>
            </a:extLst>
          </p:cNvPr>
          <p:cNvSpPr>
            <a:spLocks noGrp="1"/>
          </p:cNvSpPr>
          <p:nvPr>
            <p:ph type="body" idx="1"/>
          </p:nvPr>
        </p:nvSpPr>
        <p:spPr>
          <a:xfrm>
            <a:off x="831850" y="1153348"/>
            <a:ext cx="10515600" cy="648543"/>
          </a:xfrm>
        </p:spPr>
        <p:txBody>
          <a:bodyPr>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226544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pSp>
        <p:nvGrpSpPr>
          <p:cNvPr id="2" name="Group 21">
            <a:extLst>
              <a:ext uri="{FF2B5EF4-FFF2-40B4-BE49-F238E27FC236}">
                <a16:creationId xmlns:a16="http://schemas.microsoft.com/office/drawing/2014/main" id="{60E0B501-22AA-4685-BE9B-A267F6F675A7}"/>
              </a:ext>
            </a:extLst>
          </p:cNvPr>
          <p:cNvGrpSpPr/>
          <p:nvPr/>
        </p:nvGrpSpPr>
        <p:grpSpPr>
          <a:xfrm rot="8650774" flipH="1" flipV="1">
            <a:off x="7430044" y="-1843126"/>
            <a:ext cx="4436224" cy="5482435"/>
            <a:chOff x="11114088" y="2241550"/>
            <a:chExt cx="1905000" cy="2354263"/>
          </a:xfrm>
          <a:solidFill>
            <a:schemeClr val="bg2">
              <a:alpha val="53000"/>
            </a:schemeClr>
          </a:solidFill>
        </p:grpSpPr>
        <p:sp>
          <p:nvSpPr>
            <p:cNvPr id="24" name="Freeform 5">
              <a:extLst>
                <a:ext uri="{FF2B5EF4-FFF2-40B4-BE49-F238E27FC236}">
                  <a16:creationId xmlns:a16="http://schemas.microsoft.com/office/drawing/2014/main" id="{5D0E179E-CA3D-4874-9ACD-F8990F48F4BF}"/>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5" name="Freeform 6">
              <a:extLst>
                <a:ext uri="{FF2B5EF4-FFF2-40B4-BE49-F238E27FC236}">
                  <a16:creationId xmlns:a16="http://schemas.microsoft.com/office/drawing/2014/main" id="{A9C53936-B93A-4CF6-8766-2FA93ACFEBE3}"/>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6" name="Freeform 7">
              <a:extLst>
                <a:ext uri="{FF2B5EF4-FFF2-40B4-BE49-F238E27FC236}">
                  <a16:creationId xmlns:a16="http://schemas.microsoft.com/office/drawing/2014/main" id="{5776DEA2-5422-4F51-B359-652B71274D31}"/>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
        <p:nvSpPr>
          <p:cNvPr id="27" name="Content Placeholder 2">
            <a:extLst>
              <a:ext uri="{FF2B5EF4-FFF2-40B4-BE49-F238E27FC236}">
                <a16:creationId xmlns:a16="http://schemas.microsoft.com/office/drawing/2014/main" id="{1A1F33A2-66F7-4D85-99DD-7B00F265AC6D}"/>
              </a:ext>
            </a:extLst>
          </p:cNvPr>
          <p:cNvSpPr>
            <a:spLocks noGrp="1"/>
          </p:cNvSpPr>
          <p:nvPr>
            <p:ph idx="1"/>
          </p:nvPr>
        </p:nvSpPr>
        <p:spPr>
          <a:xfrm>
            <a:off x="515938" y="1825625"/>
            <a:ext cx="10837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2" name="Picture 11">
            <a:extLst>
              <a:ext uri="{FF2B5EF4-FFF2-40B4-BE49-F238E27FC236}">
                <a16:creationId xmlns:a16="http://schemas.microsoft.com/office/drawing/2014/main" id="{EC2DFD46-BF74-47BA-A496-92ED1979C36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3" name="Title 1">
            <a:extLst>
              <a:ext uri="{FF2B5EF4-FFF2-40B4-BE49-F238E27FC236}">
                <a16:creationId xmlns:a16="http://schemas.microsoft.com/office/drawing/2014/main" id="{EF788279-D710-447A-9E71-4D1344575691}"/>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3789758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C2A6B906-ACDA-40FD-8AC8-0B693AB12796}"/>
              </a:ext>
            </a:extLst>
          </p:cNvPr>
          <p:cNvGrpSpPr/>
          <p:nvPr/>
        </p:nvGrpSpPr>
        <p:grpSpPr>
          <a:xfrm rot="8650774" flipH="1" flipV="1">
            <a:off x="7430044" y="-1843126"/>
            <a:ext cx="4436224" cy="5482435"/>
            <a:chOff x="11114088" y="2241550"/>
            <a:chExt cx="1905000" cy="2354263"/>
          </a:xfrm>
          <a:solidFill>
            <a:schemeClr val="bg2">
              <a:alpha val="53000"/>
            </a:schemeClr>
          </a:solidFill>
        </p:grpSpPr>
        <p:sp>
          <p:nvSpPr>
            <p:cNvPr id="19" name="Freeform 5">
              <a:extLst>
                <a:ext uri="{FF2B5EF4-FFF2-40B4-BE49-F238E27FC236}">
                  <a16:creationId xmlns:a16="http://schemas.microsoft.com/office/drawing/2014/main" id="{717F7366-5A99-4065-90C2-AE7DF5DD0F44}"/>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90A089CA-63B9-4456-B0B1-17C75EBFB98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7">
              <a:extLst>
                <a:ext uri="{FF2B5EF4-FFF2-40B4-BE49-F238E27FC236}">
                  <a16:creationId xmlns:a16="http://schemas.microsoft.com/office/drawing/2014/main" id="{8D36B2D1-BCFE-43FC-8743-7B7A30E1AD5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
        <p:nvSpPr>
          <p:cNvPr id="14" name="Content Placeholder 2">
            <a:extLst>
              <a:ext uri="{FF2B5EF4-FFF2-40B4-BE49-F238E27FC236}">
                <a16:creationId xmlns:a16="http://schemas.microsoft.com/office/drawing/2014/main" id="{079DA8F4-EDD3-4D62-A90B-8C3C1AFB0083}"/>
              </a:ext>
            </a:extLst>
          </p:cNvPr>
          <p:cNvSpPr>
            <a:spLocks noGrp="1"/>
          </p:cNvSpPr>
          <p:nvPr>
            <p:ph sz="half" idx="1"/>
          </p:nvPr>
        </p:nvSpPr>
        <p:spPr>
          <a:xfrm>
            <a:off x="515938" y="1825625"/>
            <a:ext cx="5503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Content Placeholder 3">
            <a:extLst>
              <a:ext uri="{FF2B5EF4-FFF2-40B4-BE49-F238E27FC236}">
                <a16:creationId xmlns:a16="http://schemas.microsoft.com/office/drawing/2014/main" id="{DA0DA994-B4A9-447A-BEBF-3EA31D3755A2}"/>
              </a:ext>
            </a:extLst>
          </p:cNvPr>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332150F9-14BF-4DCB-884D-49596914C29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1" name="Title 1">
            <a:extLst>
              <a:ext uri="{FF2B5EF4-FFF2-40B4-BE49-F238E27FC236}">
                <a16:creationId xmlns:a16="http://schemas.microsoft.com/office/drawing/2014/main" id="{19DEF115-82C2-4E9D-A22C-8DA561FB37B8}"/>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09293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16F52B4-215E-4237-893C-E22B23804744}"/>
              </a:ext>
            </a:extLst>
          </p:cNvPr>
          <p:cNvGrpSpPr/>
          <p:nvPr/>
        </p:nvGrpSpPr>
        <p:grpSpPr>
          <a:xfrm rot="8650774" flipH="1" flipV="1">
            <a:off x="7430044" y="-1843126"/>
            <a:ext cx="4436224" cy="5482435"/>
            <a:chOff x="11114088" y="2241550"/>
            <a:chExt cx="1905000" cy="2354263"/>
          </a:xfrm>
          <a:solidFill>
            <a:schemeClr val="bg2">
              <a:alpha val="53000"/>
            </a:schemeClr>
          </a:solidFill>
        </p:grpSpPr>
        <p:sp>
          <p:nvSpPr>
            <p:cNvPr id="22" name="Freeform 5">
              <a:extLst>
                <a:ext uri="{FF2B5EF4-FFF2-40B4-BE49-F238E27FC236}">
                  <a16:creationId xmlns:a16="http://schemas.microsoft.com/office/drawing/2014/main" id="{B7C40C77-B795-4B07-B92D-2E8A56635773}"/>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6">
              <a:extLst>
                <a:ext uri="{FF2B5EF4-FFF2-40B4-BE49-F238E27FC236}">
                  <a16:creationId xmlns:a16="http://schemas.microsoft.com/office/drawing/2014/main" id="{6E703A1E-5F10-4BB5-9D52-77CB6F5994C0}"/>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4" name="Freeform 7">
              <a:extLst>
                <a:ext uri="{FF2B5EF4-FFF2-40B4-BE49-F238E27FC236}">
                  <a16:creationId xmlns:a16="http://schemas.microsoft.com/office/drawing/2014/main" id="{22CEE04C-09CE-41CF-937D-EC2D3C23ECC6}"/>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
        <p:nvSpPr>
          <p:cNvPr id="14" name="Text Placeholder 2">
            <a:extLst>
              <a:ext uri="{FF2B5EF4-FFF2-40B4-BE49-F238E27FC236}">
                <a16:creationId xmlns:a16="http://schemas.microsoft.com/office/drawing/2014/main" id="{774CF4BA-8DCB-42CF-A2C4-D6AF95EE3F54}"/>
              </a:ext>
            </a:extLst>
          </p:cNvPr>
          <p:cNvSpPr>
            <a:spLocks noGrp="1"/>
          </p:cNvSpPr>
          <p:nvPr>
            <p:ph type="body" idx="1"/>
          </p:nvPr>
        </p:nvSpPr>
        <p:spPr>
          <a:xfrm>
            <a:off x="515938" y="1681163"/>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3">
            <a:extLst>
              <a:ext uri="{FF2B5EF4-FFF2-40B4-BE49-F238E27FC236}">
                <a16:creationId xmlns:a16="http://schemas.microsoft.com/office/drawing/2014/main" id="{67BA8B6E-A28D-4658-8C91-6CA7BD539B85}"/>
              </a:ext>
            </a:extLst>
          </p:cNvPr>
          <p:cNvSpPr>
            <a:spLocks noGrp="1"/>
          </p:cNvSpPr>
          <p:nvPr>
            <p:ph sz="half" idx="2"/>
          </p:nvPr>
        </p:nvSpPr>
        <p:spPr>
          <a:xfrm>
            <a:off x="51593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4">
            <a:extLst>
              <a:ext uri="{FF2B5EF4-FFF2-40B4-BE49-F238E27FC236}">
                <a16:creationId xmlns:a16="http://schemas.microsoft.com/office/drawing/2014/main" id="{F73B3215-82DB-4DBF-9E77-3AE2308C6920}"/>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9" name="Content Placeholder 5">
            <a:extLst>
              <a:ext uri="{FF2B5EF4-FFF2-40B4-BE49-F238E27FC236}">
                <a16:creationId xmlns:a16="http://schemas.microsoft.com/office/drawing/2014/main" id="{8DFD34E8-36CC-4FFE-926B-C170208FEDB8}"/>
              </a:ext>
            </a:extLst>
          </p:cNvPr>
          <p:cNvSpPr>
            <a:spLocks noGrp="1"/>
          </p:cNvSpPr>
          <p:nvPr>
            <p:ph sz="quarter" idx="4"/>
          </p:nvPr>
        </p:nvSpPr>
        <p:spPr>
          <a:xfrm>
            <a:off x="6172200"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21" name="Picture 20">
            <a:extLst>
              <a:ext uri="{FF2B5EF4-FFF2-40B4-BE49-F238E27FC236}">
                <a16:creationId xmlns:a16="http://schemas.microsoft.com/office/drawing/2014/main" id="{03383C6B-3BE4-4380-AF26-1C21492FCE8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5" name="Title 1">
            <a:extLst>
              <a:ext uri="{FF2B5EF4-FFF2-40B4-BE49-F238E27FC236}">
                <a16:creationId xmlns:a16="http://schemas.microsoft.com/office/drawing/2014/main" id="{AE3770E9-CB74-47B0-8229-91F6F756015E}"/>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461794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57825D7-DD33-4B70-BBBE-D46E7A5352EC}"/>
              </a:ext>
            </a:extLst>
          </p:cNvPr>
          <p:cNvSpPr>
            <a:spLocks noGrp="1"/>
          </p:cNvSpPr>
          <p:nvPr>
            <p:ph type="pic" idx="1"/>
          </p:nvPr>
        </p:nvSpPr>
        <p:spPr>
          <a:xfrm>
            <a:off x="6096000" y="768485"/>
            <a:ext cx="5305662"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grpSp>
        <p:nvGrpSpPr>
          <p:cNvPr id="2" name="Group 13">
            <a:extLst>
              <a:ext uri="{FF2B5EF4-FFF2-40B4-BE49-F238E27FC236}">
                <a16:creationId xmlns:a16="http://schemas.microsoft.com/office/drawing/2014/main" id="{0DC2055F-AE3F-46BE-B57E-A0F1A86D1C36}"/>
              </a:ext>
            </a:extLst>
          </p:cNvPr>
          <p:cNvGrpSpPr/>
          <p:nvPr/>
        </p:nvGrpSpPr>
        <p:grpSpPr>
          <a:xfrm flipH="1">
            <a:off x="5400786" y="-2003509"/>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9" name="Title 1">
            <a:extLst>
              <a:ext uri="{FF2B5EF4-FFF2-40B4-BE49-F238E27FC236}">
                <a16:creationId xmlns:a16="http://schemas.microsoft.com/office/drawing/2014/main" id="{19A1397F-1946-4CBE-9EC5-159C3CBC78B6}"/>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20" name="Text Placeholder 3">
            <a:extLst>
              <a:ext uri="{FF2B5EF4-FFF2-40B4-BE49-F238E27FC236}">
                <a16:creationId xmlns:a16="http://schemas.microsoft.com/office/drawing/2014/main" id="{C535F2AB-153E-44A9-97BE-00553BEC1770}"/>
              </a:ext>
            </a:extLst>
          </p:cNvPr>
          <p:cNvSpPr>
            <a:spLocks noGrp="1"/>
          </p:cNvSpPr>
          <p:nvPr>
            <p:ph type="body" sz="half" idx="2"/>
          </p:nvPr>
        </p:nvSpPr>
        <p:spPr>
          <a:xfrm>
            <a:off x="839788" y="2057400"/>
            <a:ext cx="3932237" cy="3811588"/>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pic>
        <p:nvPicPr>
          <p:cNvPr id="8" name="Picture 7">
            <a:extLst>
              <a:ext uri="{FF2B5EF4-FFF2-40B4-BE49-F238E27FC236}">
                <a16:creationId xmlns:a16="http://schemas.microsoft.com/office/drawing/2014/main" id="{06298D65-1027-4897-A948-DCEEF8FC3D9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2107185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2" name="Group 18">
            <a:extLst>
              <a:ext uri="{FF2B5EF4-FFF2-40B4-BE49-F238E27FC236}">
                <a16:creationId xmlns:a16="http://schemas.microsoft.com/office/drawing/2014/main" id="{9F866E5C-B8AA-4805-B232-831BA01AAF16}"/>
              </a:ext>
            </a:extLst>
          </p:cNvPr>
          <p:cNvGrpSpPr/>
          <p:nvPr/>
        </p:nvGrpSpPr>
        <p:grpSpPr>
          <a:xfrm rot="8650774" flipH="1" flipV="1">
            <a:off x="7430044" y="-1843126"/>
            <a:ext cx="4436224" cy="5482435"/>
            <a:chOff x="11114088" y="2241550"/>
            <a:chExt cx="1905000" cy="2354263"/>
          </a:xfrm>
          <a:solidFill>
            <a:schemeClr val="bg2">
              <a:alpha val="53000"/>
            </a:schemeClr>
          </a:solidFill>
        </p:grpSpPr>
        <p:sp>
          <p:nvSpPr>
            <p:cNvPr id="20" name="Freeform 5">
              <a:extLst>
                <a:ext uri="{FF2B5EF4-FFF2-40B4-BE49-F238E27FC236}">
                  <a16:creationId xmlns:a16="http://schemas.microsoft.com/office/drawing/2014/main" id="{F98614F0-2DA3-4F29-8CB3-D61424AC8506}"/>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6">
              <a:extLst>
                <a:ext uri="{FF2B5EF4-FFF2-40B4-BE49-F238E27FC236}">
                  <a16:creationId xmlns:a16="http://schemas.microsoft.com/office/drawing/2014/main" id="{66D52F08-13EC-4AB4-BB79-89A5395A03B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7">
              <a:extLst>
                <a:ext uri="{FF2B5EF4-FFF2-40B4-BE49-F238E27FC236}">
                  <a16:creationId xmlns:a16="http://schemas.microsoft.com/office/drawing/2014/main" id="{2544236D-8C3A-41EF-9A68-C84A8A7D0F5A}"/>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E3D1FF4C-2068-4BA9-9B4D-17B36DE2EA0F}" type="slidenum">
              <a:rPr lang="en-IN" smtClean="0"/>
              <a:pPr/>
              <a:t>‹#›</a:t>
            </a:fld>
            <a:endParaRPr lang="en-IN" dirty="0"/>
          </a:p>
        </p:txBody>
      </p:sp>
      <p:sp>
        <p:nvSpPr>
          <p:cNvPr id="14" name="Title 1">
            <a:extLst>
              <a:ext uri="{FF2B5EF4-FFF2-40B4-BE49-F238E27FC236}">
                <a16:creationId xmlns:a16="http://schemas.microsoft.com/office/drawing/2014/main" id="{9009D5C6-6206-4291-8037-67DC025F0B4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17" name="Text Placeholder 3">
            <a:extLst>
              <a:ext uri="{FF2B5EF4-FFF2-40B4-BE49-F238E27FC236}">
                <a16:creationId xmlns:a16="http://schemas.microsoft.com/office/drawing/2014/main" id="{BEB643FD-AA85-4A43-8EBD-AFD10DD98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8" name="Content Placeholder 2">
            <a:extLst>
              <a:ext uri="{FF2B5EF4-FFF2-40B4-BE49-F238E27FC236}">
                <a16:creationId xmlns:a16="http://schemas.microsoft.com/office/drawing/2014/main" id="{9001F313-F798-43BE-AFF0-A68C84C3640D}"/>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91881DEA-0ECB-4310-ADF5-4337ACB4338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3025310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2D8DF52-F37F-45F4-B163-608862B716C3}" type="datetimeFigureOut">
              <a:rPr lang="en-IN" smtClean="0"/>
              <a:pPr/>
              <a:t>03-10-2025</a:t>
            </a:fld>
            <a:endParaRPr lang="en-IN"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3D1FF4C-2068-4BA9-9B4D-17B36DE2EA0F}" type="slidenum">
              <a:rPr lang="en-IN" smtClean="0"/>
              <a:pPr/>
              <a:t>‹#›</a:t>
            </a:fld>
            <a:endParaRPr lang="en-IN"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4477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30312989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3D1FF4C-2068-4BA9-9B4D-17B36DE2EA0F}" type="slidenum">
              <a:rPr lang="en-IN" smtClean="0"/>
              <a:pPr/>
              <a:t>‹#›</a:t>
            </a:fld>
            <a:endParaRPr lang="en-IN"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6644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33190208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3670780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36219217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16642659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23437897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140000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1116694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8DF52-F37F-45F4-B163-608862B716C3}" type="datetimeFigureOut">
              <a:rPr lang="en-IN" smtClean="0"/>
              <a:pPr/>
              <a:t>03-10-2025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3D1FF4C-2068-4BA9-9B4D-17B36DE2EA0F}" type="slidenum">
              <a:rPr lang="en-IN" smtClean="0"/>
              <a:pPr/>
              <a:t>‹#›</a:t>
            </a:fld>
            <a:endParaRPr lang="en-IN" dirty="0"/>
          </a:p>
        </p:txBody>
      </p:sp>
    </p:spTree>
    <p:extLst>
      <p:ext uri="{BB962C8B-B14F-4D97-AF65-F5344CB8AC3E}">
        <p14:creationId xmlns:p14="http://schemas.microsoft.com/office/powerpoint/2010/main" val="1868063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1F27F-98F9-A147-8986-34441C7B752D}" type="datetime1">
              <a:rPr lang="en-US" noProof="0" smtClean="0"/>
              <a:pPr/>
              <a:t>10/3/2025</a:t>
            </a:fld>
            <a:endParaRPr lang="en-US" noProof="0" dirty="0"/>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pPr/>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4243" r:id="rId1"/>
    <p:sldLayoutId id="2147484244" r:id="rId2"/>
    <p:sldLayoutId id="2147484245" r:id="rId3"/>
    <p:sldLayoutId id="2147484246" r:id="rId4"/>
    <p:sldLayoutId id="2147484247" r:id="rId5"/>
    <p:sldLayoutId id="2147484248" r:id="rId6"/>
    <p:sldLayoutId id="2147484249" r:id="rId7"/>
    <p:sldLayoutId id="2147484250" r:id="rId8"/>
    <p:sldLayoutId id="2147484251" r:id="rId9"/>
    <p:sldLayoutId id="2147484252" r:id="rId10"/>
    <p:sldLayoutId id="2147484253" r:id="rId11"/>
    <p:sldLayoutId id="2147484254" r:id="rId12"/>
    <p:sldLayoutId id="2147484255" r:id="rId13"/>
    <p:sldLayoutId id="2147484256" r:id="rId14"/>
    <p:sldLayoutId id="2147484257" r:id="rId15"/>
    <p:sldLayoutId id="2147484258" r:id="rId16"/>
    <p:sldLayoutId id="2147484259" r:id="rId17"/>
    <p:sldLayoutId id="2147484260"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D951F27F-98F9-A147-8986-34441C7B752D}" type="datetime1">
              <a:rPr lang="en-US" noProof="0" smtClean="0"/>
              <a:pPr/>
              <a:t>10/3/2025</a:t>
            </a:fld>
            <a:endParaRPr lang="en-US" noProof="0"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noProof="0"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EC71654-96A5-4280-94F3-931C61A9F92C}" type="slidenum">
              <a:rPr lang="en-US" noProof="0" smtClean="0"/>
              <a:pPr/>
              <a:t>‹#›</a:t>
            </a:fld>
            <a:endParaRPr lang="en-US" noProof="0" dirty="0"/>
          </a:p>
        </p:txBody>
      </p:sp>
    </p:spTree>
    <p:extLst>
      <p:ext uri="{BB962C8B-B14F-4D97-AF65-F5344CB8AC3E}">
        <p14:creationId xmlns:p14="http://schemas.microsoft.com/office/powerpoint/2010/main" val="2720569077"/>
      </p:ext>
    </p:extLst>
  </p:cSld>
  <p:clrMap bg1="lt1" tx1="dk1" bg2="lt2" tx2="dk2" accent1="accent1" accent2="accent2" accent3="accent3" accent4="accent4" accent5="accent5" accent6="accent6" hlink="hlink" folHlink="folHlink"/>
  <p:sldLayoutIdLst>
    <p:sldLayoutId id="2147484402" r:id="rId1"/>
    <p:sldLayoutId id="2147484403" r:id="rId2"/>
    <p:sldLayoutId id="2147484404" r:id="rId3"/>
    <p:sldLayoutId id="2147484405" r:id="rId4"/>
    <p:sldLayoutId id="2147484406" r:id="rId5"/>
    <p:sldLayoutId id="2147484407" r:id="rId6"/>
    <p:sldLayoutId id="2147484408" r:id="rId7"/>
    <p:sldLayoutId id="2147484409" r:id="rId8"/>
    <p:sldLayoutId id="2147484410" r:id="rId9"/>
    <p:sldLayoutId id="2147484411" r:id="rId10"/>
    <p:sldLayoutId id="2147484412" r:id="rId11"/>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png"/><Relationship Id="rId7" Type="http://schemas.openxmlformats.org/officeDocument/2006/relationships/image" Target="../media/image22.jpg"/><Relationship Id="rId2" Type="http://schemas.openxmlformats.org/officeDocument/2006/relationships/image" Target="../media/image17.png"/><Relationship Id="rId1" Type="http://schemas.openxmlformats.org/officeDocument/2006/relationships/slideLayout" Target="../slideLayouts/slideLayout20.xml"/><Relationship Id="rId6" Type="http://schemas.openxmlformats.org/officeDocument/2006/relationships/image" Target="../media/image21.jp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71D478F-0F60-557C-04DC-03066B6774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1" y="283610"/>
            <a:ext cx="11520199" cy="1838132"/>
          </a:xfrm>
          <a:prstGeom prst="rect">
            <a:avLst/>
          </a:prstGeom>
        </p:spPr>
      </p:pic>
      <p:sp>
        <p:nvSpPr>
          <p:cNvPr id="15" name="TextBox 14">
            <a:extLst>
              <a:ext uri="{FF2B5EF4-FFF2-40B4-BE49-F238E27FC236}">
                <a16:creationId xmlns:a16="http://schemas.microsoft.com/office/drawing/2014/main" id="{ACA68991-CD3C-AA54-0427-A1EA6EC1677E}"/>
              </a:ext>
            </a:extLst>
          </p:cNvPr>
          <p:cNvSpPr txBox="1"/>
          <p:nvPr/>
        </p:nvSpPr>
        <p:spPr>
          <a:xfrm>
            <a:off x="1910592" y="2004621"/>
            <a:ext cx="7180140" cy="830997"/>
          </a:xfrm>
          <a:prstGeom prst="rect">
            <a:avLst/>
          </a:prstGeom>
          <a:noFill/>
        </p:spPr>
        <p:txBody>
          <a:bodyPr wrap="square">
            <a:spAutoFit/>
          </a:bodyPr>
          <a:lstStyle/>
          <a:p>
            <a:r>
              <a:rPr lang="en-IN" sz="2400" b="1" dirty="0">
                <a:solidFill>
                  <a:srgbClr val="FF0000"/>
                </a:solidFill>
                <a:latin typeface="Times New Roman" pitchFamily="18" charset="0"/>
                <a:cs typeface="Times New Roman" pitchFamily="18" charset="0"/>
              </a:rPr>
              <a:t>                          </a:t>
            </a:r>
            <a:r>
              <a:rPr lang="en-IN" b="1" dirty="0">
                <a:latin typeface="Times New Roman" pitchFamily="18" charset="0"/>
                <a:cs typeface="Times New Roman" pitchFamily="18" charset="0"/>
              </a:rPr>
              <a:t>Mini-Project 2025-26</a:t>
            </a:r>
            <a:endParaRPr lang="en-IN" dirty="0">
              <a:latin typeface="Times New Roman" pitchFamily="18" charset="0"/>
              <a:cs typeface="Times New Roman" pitchFamily="18" charset="0"/>
            </a:endParaRPr>
          </a:p>
          <a:p>
            <a:r>
              <a:rPr lang="en-IN" sz="2400" b="1" dirty="0">
                <a:latin typeface="Times New Roman" pitchFamily="18" charset="0"/>
                <a:cs typeface="Times New Roman" pitchFamily="18" charset="0"/>
              </a:rPr>
              <a:t>         A PROJECT IDEA PRESENTATION</a:t>
            </a:r>
            <a:r>
              <a:rPr lang="en-IN" sz="1800" dirty="0">
                <a:latin typeface="Times New Roman" pitchFamily="18" charset="0"/>
                <a:cs typeface="Times New Roman" pitchFamily="18" charset="0"/>
              </a:rPr>
              <a:t> </a:t>
            </a:r>
            <a:r>
              <a:rPr lang="en-IN" sz="2400" b="1" dirty="0">
                <a:latin typeface="Times New Roman" pitchFamily="18" charset="0"/>
                <a:cs typeface="Times New Roman" pitchFamily="18" charset="0"/>
              </a:rPr>
              <a:t>ON </a:t>
            </a:r>
            <a:endParaRPr lang="en-IN" sz="2400" dirty="0">
              <a:latin typeface="Times New Roman" pitchFamily="18" charset="0"/>
              <a:cs typeface="Times New Roman" pitchFamily="18" charset="0"/>
            </a:endParaRPr>
          </a:p>
        </p:txBody>
      </p:sp>
      <p:sp>
        <p:nvSpPr>
          <p:cNvPr id="17" name="TextBox 16">
            <a:extLst>
              <a:ext uri="{FF2B5EF4-FFF2-40B4-BE49-F238E27FC236}">
                <a16:creationId xmlns:a16="http://schemas.microsoft.com/office/drawing/2014/main" id="{26E5791D-42CE-24E6-6ACA-4FC57215937D}"/>
              </a:ext>
            </a:extLst>
          </p:cNvPr>
          <p:cNvSpPr txBox="1"/>
          <p:nvPr/>
        </p:nvSpPr>
        <p:spPr>
          <a:xfrm>
            <a:off x="2116493" y="2455662"/>
            <a:ext cx="6671387" cy="1077218"/>
          </a:xfrm>
          <a:prstGeom prst="rect">
            <a:avLst/>
          </a:prstGeom>
          <a:noFill/>
        </p:spPr>
        <p:txBody>
          <a:bodyPr wrap="square">
            <a:spAutoFit/>
          </a:bodyPr>
          <a:lstStyle/>
          <a:p>
            <a:endParaRPr lang="en-IN" sz="2000" b="1" dirty="0">
              <a:latin typeface="Times New Roman" pitchFamily="18" charset="0"/>
              <a:cs typeface="Times New Roman" pitchFamily="18" charset="0"/>
            </a:endParaRPr>
          </a:p>
          <a:p>
            <a:r>
              <a:rPr lang="en-IN" sz="2000" b="1" dirty="0">
                <a:latin typeface="Times New Roman" pitchFamily="18" charset="0"/>
                <a:cs typeface="Times New Roman" pitchFamily="18" charset="0"/>
              </a:rPr>
              <a:t> </a:t>
            </a:r>
          </a:p>
          <a:p>
            <a:r>
              <a:rPr lang="en-IN" sz="2000" b="1" dirty="0">
                <a:latin typeface="Times New Roman" pitchFamily="18" charset="0"/>
                <a:cs typeface="Times New Roman" pitchFamily="18" charset="0"/>
              </a:rPr>
              <a:t>          </a:t>
            </a:r>
            <a:r>
              <a:rPr lang="en-IN" sz="2400" b="1" dirty="0">
                <a:solidFill>
                  <a:srgbClr val="FF0000"/>
                </a:solidFill>
                <a:latin typeface="Times New Roman" pitchFamily="18" charset="0"/>
                <a:cs typeface="Times New Roman" pitchFamily="18" charset="0"/>
              </a:rPr>
              <a:t>“Smart Greenhouse Monitoring System” </a:t>
            </a:r>
            <a:endParaRPr lang="en-IN" sz="2400" dirty="0">
              <a:solidFill>
                <a:srgbClr val="FF0000"/>
              </a:solidFill>
              <a:latin typeface="Times New Roman" pitchFamily="18" charset="0"/>
              <a:cs typeface="Times New Roman" pitchFamily="18" charset="0"/>
            </a:endParaRPr>
          </a:p>
        </p:txBody>
      </p:sp>
      <p:sp>
        <p:nvSpPr>
          <p:cNvPr id="19" name="TextBox 18">
            <a:extLst>
              <a:ext uri="{FF2B5EF4-FFF2-40B4-BE49-F238E27FC236}">
                <a16:creationId xmlns:a16="http://schemas.microsoft.com/office/drawing/2014/main" id="{C090A181-B9C8-1EBD-1D69-B56F91000311}"/>
              </a:ext>
            </a:extLst>
          </p:cNvPr>
          <p:cNvSpPr txBox="1"/>
          <p:nvPr/>
        </p:nvSpPr>
        <p:spPr>
          <a:xfrm>
            <a:off x="-1352939" y="4200721"/>
            <a:ext cx="6102220" cy="369332"/>
          </a:xfrm>
          <a:prstGeom prst="rect">
            <a:avLst/>
          </a:prstGeom>
          <a:noFill/>
        </p:spPr>
        <p:txBody>
          <a:bodyPr wrap="square">
            <a:spAutoFit/>
          </a:bodyPr>
          <a:lstStyle/>
          <a:p>
            <a:pPr algn="ctr"/>
            <a:r>
              <a:rPr lang="en-IN" sz="1800" b="1" dirty="0">
                <a:latin typeface="Times New Roman" pitchFamily="18" charset="0"/>
                <a:cs typeface="Times New Roman" pitchFamily="18" charset="0"/>
              </a:rPr>
              <a:t>Presented By:</a:t>
            </a:r>
          </a:p>
        </p:txBody>
      </p:sp>
      <p:sp>
        <p:nvSpPr>
          <p:cNvPr id="21" name="TextBox 20">
            <a:extLst>
              <a:ext uri="{FF2B5EF4-FFF2-40B4-BE49-F238E27FC236}">
                <a16:creationId xmlns:a16="http://schemas.microsoft.com/office/drawing/2014/main" id="{97278055-06DD-D0B3-CA0E-39AB5EC70E90}"/>
              </a:ext>
            </a:extLst>
          </p:cNvPr>
          <p:cNvSpPr txBox="1"/>
          <p:nvPr/>
        </p:nvSpPr>
        <p:spPr>
          <a:xfrm>
            <a:off x="811763" y="4668714"/>
            <a:ext cx="6948973" cy="1200329"/>
          </a:xfrm>
          <a:prstGeom prst="rect">
            <a:avLst/>
          </a:prstGeom>
          <a:noFill/>
        </p:spPr>
        <p:txBody>
          <a:bodyPr wrap="square">
            <a:spAutoFit/>
          </a:bodyPr>
          <a:lstStyle/>
          <a:p>
            <a:r>
              <a:rPr lang="en-IN" dirty="0" err="1">
                <a:solidFill>
                  <a:srgbClr val="000000"/>
                </a:solidFill>
                <a:latin typeface="Times New Roman" pitchFamily="18" charset="0"/>
                <a:ea typeface="Times New Roman" panose="02020603050405020304" pitchFamily="18" charset="0"/>
                <a:cs typeface="Times New Roman" pitchFamily="18" charset="0"/>
              </a:rPr>
              <a:t>Channabasu</a:t>
            </a:r>
            <a:r>
              <a:rPr lang="en-IN" dirty="0">
                <a:solidFill>
                  <a:srgbClr val="000000"/>
                </a:solidFill>
                <a:latin typeface="Times New Roman" pitchFamily="18" charset="0"/>
                <a:ea typeface="Times New Roman" panose="02020603050405020304" pitchFamily="18" charset="0"/>
                <a:cs typeface="Times New Roman" pitchFamily="18" charset="0"/>
              </a:rPr>
              <a:t> .</a:t>
            </a:r>
            <a:r>
              <a:rPr lang="en-IN" dirty="0" err="1">
                <a:solidFill>
                  <a:srgbClr val="000000"/>
                </a:solidFill>
                <a:latin typeface="Times New Roman" pitchFamily="18" charset="0"/>
                <a:ea typeface="Times New Roman" panose="02020603050405020304" pitchFamily="18" charset="0"/>
                <a:cs typeface="Times New Roman" pitchFamily="18" charset="0"/>
              </a:rPr>
              <a:t>A.Nelagudd</a:t>
            </a:r>
            <a:r>
              <a:rPr lang="en-IN" dirty="0">
                <a:solidFill>
                  <a:srgbClr val="000000"/>
                </a:solidFill>
                <a:latin typeface="Times New Roman" pitchFamily="18" charset="0"/>
                <a:ea typeface="Times New Roman" panose="02020603050405020304" pitchFamily="18" charset="0"/>
                <a:cs typeface="Times New Roman" pitchFamily="18" charset="0"/>
              </a:rPr>
              <a:t>     USN:2KA23EC007</a:t>
            </a:r>
            <a:endParaRPr lang="en-IN" dirty="0">
              <a:latin typeface="Times New Roman" pitchFamily="18" charset="0"/>
              <a:cs typeface="Times New Roman" pitchFamily="18" charset="0"/>
            </a:endParaRPr>
          </a:p>
          <a:p>
            <a:pPr>
              <a:buNone/>
            </a:pPr>
            <a:r>
              <a:rPr lang="en-US" dirty="0" err="1">
                <a:latin typeface="Times New Roman" pitchFamily="18" charset="0"/>
                <a:ea typeface="Times New Roman" panose="02020603050405020304" pitchFamily="18" charset="0"/>
                <a:cs typeface="Times New Roman" pitchFamily="18" charset="0"/>
              </a:rPr>
              <a:t>Harish.M.Patil</a:t>
            </a:r>
            <a:r>
              <a:rPr lang="en-US" sz="1800" dirty="0">
                <a:effectLst/>
                <a:latin typeface="Times New Roman" pitchFamily="18" charset="0"/>
                <a:ea typeface="Times New Roman" panose="02020603050405020304" pitchFamily="18" charset="0"/>
                <a:cs typeface="Times New Roman" pitchFamily="18" charset="0"/>
              </a:rPr>
              <a:t>                      USN:2KA23EC015</a:t>
            </a:r>
            <a:endParaRPr lang="en-IN" sz="1800" dirty="0">
              <a:effectLst/>
              <a:latin typeface="Times New Roman" pitchFamily="18" charset="0"/>
              <a:ea typeface="Times New Roman" panose="02020603050405020304" pitchFamily="18" charset="0"/>
              <a:cs typeface="Times New Roman" pitchFamily="18" charset="0"/>
            </a:endParaRPr>
          </a:p>
          <a:p>
            <a:pPr>
              <a:buNone/>
            </a:pPr>
            <a:r>
              <a:rPr lang="en-IN" sz="1800" dirty="0" err="1">
                <a:latin typeface="Times New Roman" pitchFamily="18" charset="0"/>
                <a:cs typeface="Times New Roman" pitchFamily="18" charset="0"/>
              </a:rPr>
              <a:t>Harish.V.Rajoli</a:t>
            </a:r>
            <a:r>
              <a:rPr lang="en-IN" sz="1800" dirty="0">
                <a:latin typeface="Times New Roman" pitchFamily="18" charset="0"/>
                <a:cs typeface="Times New Roman" pitchFamily="18" charset="0"/>
              </a:rPr>
              <a:t>                     USN:2KA23EC016</a:t>
            </a:r>
          </a:p>
          <a:p>
            <a:pPr>
              <a:buNone/>
            </a:pPr>
            <a:r>
              <a:rPr lang="en-IN" dirty="0">
                <a:latin typeface="Times New Roman" pitchFamily="18" charset="0"/>
                <a:cs typeface="Times New Roman" pitchFamily="18" charset="0"/>
              </a:rPr>
              <a:t>Mohammed </a:t>
            </a:r>
            <a:r>
              <a:rPr lang="en-IN" dirty="0" err="1">
                <a:latin typeface="Times New Roman" pitchFamily="18" charset="0"/>
                <a:cs typeface="Times New Roman" pitchFamily="18" charset="0"/>
              </a:rPr>
              <a:t>Ayaz</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Khatib</a:t>
            </a:r>
            <a:r>
              <a:rPr lang="en-IN" dirty="0">
                <a:latin typeface="Times New Roman" pitchFamily="18" charset="0"/>
                <a:cs typeface="Times New Roman" pitchFamily="18" charset="0"/>
              </a:rPr>
              <a:t>      USN:2KA23EC029</a:t>
            </a:r>
            <a:endParaRPr lang="en-IN" sz="18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C5858A44-FA4F-4210-CD81-CE2369623C24}"/>
              </a:ext>
            </a:extLst>
          </p:cNvPr>
          <p:cNvSpPr txBox="1"/>
          <p:nvPr/>
        </p:nvSpPr>
        <p:spPr>
          <a:xfrm>
            <a:off x="7442721" y="4200721"/>
            <a:ext cx="440404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Guided by:</a:t>
            </a:r>
          </a:p>
          <a:p>
            <a:r>
              <a:rPr lang="en-IN" dirty="0" err="1"/>
              <a:t>Prof.Chandramouli</a:t>
            </a:r>
            <a:r>
              <a:rPr lang="en-IN" dirty="0"/>
              <a:t> Joshi </a:t>
            </a:r>
          </a:p>
        </p:txBody>
      </p:sp>
    </p:spTree>
    <p:extLst>
      <p:ext uri="{BB962C8B-B14F-4D97-AF65-F5344CB8AC3E}">
        <p14:creationId xmlns:p14="http://schemas.microsoft.com/office/powerpoint/2010/main" val="67210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4770" y="762002"/>
            <a:ext cx="6863470" cy="4278094"/>
          </a:xfrm>
          <a:prstGeom prst="rect">
            <a:avLst/>
          </a:prstGeom>
          <a:noFill/>
        </p:spPr>
        <p:txBody>
          <a:bodyPr wrap="squar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Contents:</a:t>
            </a:r>
          </a:p>
          <a:p>
            <a:pPr marL="342900" indent="-3429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Introduction</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Objectives</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Literature Survey</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Methodology</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Hardware and Software requirements </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Advantages and Disadvantages</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Applications</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Conclusion</a:t>
            </a:r>
          </a:p>
          <a:p>
            <a:pPr algn="just">
              <a:buFont typeface="Wingdings" pitchFamily="2" charset="2"/>
              <a:buChar char="q"/>
            </a:pPr>
            <a:r>
              <a:rPr lang="en-US" sz="2400" dirty="0">
                <a:latin typeface="Times New Roman" panose="02020603050405020304" pitchFamily="18" charset="0"/>
                <a:cs typeface="Times New Roman" panose="02020603050405020304" pitchFamily="18" charset="0"/>
              </a:rPr>
              <a:t> Reference</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0B23-CAB4-397F-FCAE-FB8935C11C8C}"/>
              </a:ext>
            </a:extLst>
          </p:cNvPr>
          <p:cNvSpPr>
            <a:spLocks noGrp="1"/>
          </p:cNvSpPr>
          <p:nvPr>
            <p:ph type="title"/>
          </p:nvPr>
        </p:nvSpPr>
        <p:spPr>
          <a:xfrm>
            <a:off x="-399642" y="421280"/>
            <a:ext cx="9956800" cy="680402"/>
          </a:xfrm>
        </p:spPr>
        <p:txBody>
          <a:bodyPr>
            <a:norm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Introduction</a:t>
            </a:r>
            <a:r>
              <a:rPr lang="en-IN" sz="3200" b="1" dirty="0">
                <a:solidFill>
                  <a:srgbClr val="FF0000"/>
                </a:solidFill>
                <a:latin typeface="+mn-lt"/>
                <a:cs typeface="Times New Roman" panose="02020603050405020304" pitchFamily="18" charset="0"/>
              </a:rPr>
              <a:t>:</a:t>
            </a:r>
          </a:p>
        </p:txBody>
      </p:sp>
      <p:sp>
        <p:nvSpPr>
          <p:cNvPr id="5" name="TextBox 4">
            <a:extLst>
              <a:ext uri="{FF2B5EF4-FFF2-40B4-BE49-F238E27FC236}">
                <a16:creationId xmlns:a16="http://schemas.microsoft.com/office/drawing/2014/main" id="{54973210-AF29-A8EF-1A87-86352FDD1F06}"/>
              </a:ext>
            </a:extLst>
          </p:cNvPr>
          <p:cNvSpPr txBox="1"/>
          <p:nvPr/>
        </p:nvSpPr>
        <p:spPr>
          <a:xfrm>
            <a:off x="709126" y="1250301"/>
            <a:ext cx="8444203" cy="4247317"/>
          </a:xfrm>
          <a:prstGeom prst="rect">
            <a:avLst/>
          </a:prstGeom>
          <a:noFill/>
        </p:spPr>
        <p:txBody>
          <a:bodyPr wrap="square">
            <a:spAutoFit/>
          </a:bodyPr>
          <a:lstStyle/>
          <a:p>
            <a:pPr lvl="0">
              <a:buFont typeface="Wingdings" pitchFamily="2" charset="2"/>
              <a:buChar char="Ø"/>
            </a:pPr>
            <a:r>
              <a:rPr lang="en-US" dirty="0">
                <a:cs typeface="Times New Roman" pitchFamily="18" charset="0"/>
              </a:rPr>
              <a:t> </a:t>
            </a:r>
            <a:r>
              <a:rPr lang="en-US" dirty="0">
                <a:latin typeface="Times New Roman" panose="02020603050405020304" pitchFamily="18" charset="0"/>
                <a:cs typeface="Times New Roman" panose="02020603050405020304" pitchFamily="18" charset="0"/>
              </a:rPr>
              <a:t>Traditional greenhouse farming relies heavily on manual monitoring, which is time-consuming and prone to error.</a:t>
            </a:r>
          </a:p>
          <a:p>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US" dirty="0">
                <a:latin typeface="Times New Roman" panose="02020603050405020304" pitchFamily="18" charset="0"/>
                <a:cs typeface="Times New Roman" panose="02020603050405020304" pitchFamily="18" charset="0"/>
              </a:rPr>
              <a:t> Environmental parameters like temperature, humidity, soil moisture, and light intensity must be constantly monitored for optimal crop growth.</a:t>
            </a:r>
          </a:p>
          <a:p>
            <a:pPr>
              <a:buFont typeface="Wingdings" pitchFamily="2" charset="2"/>
              <a:buChar char="Ø"/>
            </a:pPr>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US" dirty="0">
                <a:latin typeface="Times New Roman" panose="02020603050405020304" pitchFamily="18" charset="0"/>
                <a:cs typeface="Times New Roman" panose="02020603050405020304" pitchFamily="18" charset="0"/>
              </a:rPr>
              <a:t> Our project offers an automated, real-time monitoring system for greenhouses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technologies. </a:t>
            </a:r>
          </a:p>
          <a:p>
            <a:pPr lvl="0"/>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US" dirty="0">
                <a:latin typeface="Times New Roman" panose="02020603050405020304" pitchFamily="18" charset="0"/>
                <a:cs typeface="Times New Roman" panose="02020603050405020304" pitchFamily="18" charset="0"/>
              </a:rPr>
              <a:t> And it continuously tracks temperature, humidity, soil moisture, and light intensity using low-cost sensors.</a:t>
            </a:r>
          </a:p>
          <a:p>
            <a:pPr lvl="0"/>
            <a:endParaRPr lang="en-US" dirty="0">
              <a:latin typeface="Times New Roman" panose="02020603050405020304" pitchFamily="18" charset="0"/>
              <a:cs typeface="Times New Roman" panose="02020603050405020304" pitchFamily="18" charset="0"/>
            </a:endParaRPr>
          </a:p>
          <a:p>
            <a:pPr>
              <a:buFont typeface="Wingdings" pitchFamily="2" charset="2"/>
              <a:buChar char="Ø"/>
            </a:pPr>
            <a:r>
              <a:rPr lang="en-US" dirty="0">
                <a:latin typeface="Times New Roman" panose="02020603050405020304" pitchFamily="18" charset="0"/>
                <a:cs typeface="Times New Roman" panose="02020603050405020304" pitchFamily="18" charset="0"/>
              </a:rPr>
              <a:t> It also transmits the live data wirelessly to a mobile application using ESP32’s built-in Wi-Fi, allowing users to monitor from anywhere.</a:t>
            </a:r>
          </a:p>
          <a:p>
            <a:pPr lvl="0"/>
            <a:endParaRPr lang="en-US" dirty="0"/>
          </a:p>
        </p:txBody>
      </p:sp>
    </p:spTree>
    <p:extLst>
      <p:ext uri="{BB962C8B-B14F-4D97-AF65-F5344CB8AC3E}">
        <p14:creationId xmlns:p14="http://schemas.microsoft.com/office/powerpoint/2010/main" val="199925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BB29A53-02BA-43FA-AB76-1A46687893F5}"/>
              </a:ext>
            </a:extLst>
          </p:cNvPr>
          <p:cNvSpPr txBox="1"/>
          <p:nvPr/>
        </p:nvSpPr>
        <p:spPr>
          <a:xfrm>
            <a:off x="-677291" y="385316"/>
            <a:ext cx="10358759" cy="584775"/>
          </a:xfrm>
          <a:prstGeom prst="rect">
            <a:avLst/>
          </a:prstGeom>
          <a:noFill/>
        </p:spPr>
        <p:txBody>
          <a:bodyPr wrap="square">
            <a:spAutoFit/>
          </a:bodyPr>
          <a:lstStyle/>
          <a:p>
            <a:pPr algn="ctr"/>
            <a:r>
              <a:rPr lang="en-GB" sz="3200" b="1" dirty="0">
                <a:solidFill>
                  <a:srgbClr val="FF0000"/>
                </a:solidFill>
                <a:latin typeface="Times New Roman" panose="02020603050405020304" pitchFamily="18" charset="0"/>
                <a:cs typeface="Times New Roman" panose="02020603050405020304" pitchFamily="18" charset="0"/>
              </a:rPr>
              <a:t>Objectives:</a:t>
            </a:r>
          </a:p>
        </p:txBody>
      </p:sp>
      <p:sp>
        <p:nvSpPr>
          <p:cNvPr id="2" name="Rectangle 1">
            <a:extLst>
              <a:ext uri="{FF2B5EF4-FFF2-40B4-BE49-F238E27FC236}">
                <a16:creationId xmlns:a16="http://schemas.microsoft.com/office/drawing/2014/main" id="{FCE5E7F4-95F8-F870-1AF1-7EA000C78AA7}"/>
              </a:ext>
            </a:extLst>
          </p:cNvPr>
          <p:cNvSpPr>
            <a:spLocks noChangeArrowheads="1"/>
          </p:cNvSpPr>
          <p:nvPr/>
        </p:nvSpPr>
        <p:spPr bwMode="auto">
          <a:xfrm>
            <a:off x="587285" y="1108590"/>
            <a:ext cx="1056279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dirty="0"/>
              <a:t> </a:t>
            </a:r>
            <a:r>
              <a:rPr lang="en-IN" dirty="0">
                <a:latin typeface="Times New Roman" panose="02020603050405020304" pitchFamily="18" charset="0"/>
                <a:cs typeface="Times New Roman" panose="02020603050405020304" pitchFamily="18" charset="0"/>
              </a:rPr>
              <a:t>To monitor key environmental parameters such as:</a:t>
            </a:r>
            <a:endParaRPr lang="en-US"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Temperature</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Humidity</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Soil moisture</a:t>
            </a:r>
            <a:r>
              <a:rPr lang="en-US" dirty="0">
                <a:latin typeface="Times New Roman" panose="02020603050405020304" pitchFamily="18" charset="0"/>
                <a:cs typeface="Times New Roman" panose="02020603050405020304" pitchFamily="18" charset="0"/>
              </a:rPr>
              <a:t> and </a:t>
            </a:r>
            <a:r>
              <a:rPr lang="en-IN" dirty="0">
                <a:latin typeface="Times New Roman" panose="02020603050405020304" pitchFamily="18" charset="0"/>
                <a:cs typeface="Times New Roman" panose="02020603050405020304" pitchFamily="18" charset="0"/>
              </a:rPr>
              <a:t>Light intensity</a:t>
            </a:r>
          </a:p>
          <a:p>
            <a:pPr lvl="1"/>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To automate greenhouse control systems based on sensor data by:</a:t>
            </a:r>
            <a:endParaRPr lang="en-US" dirty="0">
              <a:latin typeface="Times New Roman" panose="02020603050405020304" pitchFamily="18" charset="0"/>
              <a:cs typeface="Times New Roman" panose="02020603050405020304" pitchFamily="18" charset="0"/>
            </a:endParaRPr>
          </a:p>
          <a:p>
            <a:pPr lvl="1">
              <a:buFont typeface="Arial" pitchFamily="34" charset="0"/>
              <a:buChar char="•"/>
            </a:pPr>
            <a:r>
              <a:rPr lang="en-IN" dirty="0">
                <a:latin typeface="Times New Roman" panose="02020603050405020304" pitchFamily="18" charset="0"/>
                <a:cs typeface="Times New Roman" panose="02020603050405020304" pitchFamily="18" charset="0"/>
              </a:rPr>
              <a:t> Turning on/off a fan to regulate temperature and humidity</a:t>
            </a:r>
            <a:endParaRPr lang="en-US" dirty="0">
              <a:latin typeface="Times New Roman" panose="02020603050405020304" pitchFamily="18" charset="0"/>
              <a:cs typeface="Times New Roman" panose="02020603050405020304" pitchFamily="18" charset="0"/>
            </a:endParaRPr>
          </a:p>
          <a:p>
            <a:pPr lvl="1">
              <a:buFont typeface="Arial" pitchFamily="34" charset="0"/>
              <a:buChar char="•"/>
            </a:pPr>
            <a:r>
              <a:rPr lang="en-IN" dirty="0">
                <a:latin typeface="Times New Roman" panose="02020603050405020304" pitchFamily="18" charset="0"/>
                <a:cs typeface="Times New Roman" panose="02020603050405020304" pitchFamily="18" charset="0"/>
              </a:rPr>
              <a:t> Turning on/off a water sprayer based on soil moisture.</a:t>
            </a:r>
            <a:endParaRPr lang="en-US" dirty="0">
              <a:latin typeface="Times New Roman" panose="02020603050405020304" pitchFamily="18" charset="0"/>
              <a:cs typeface="Times New Roman" panose="02020603050405020304" pitchFamily="18" charset="0"/>
            </a:endParaRPr>
          </a:p>
          <a:p>
            <a:pPr lvl="1">
              <a:buFont typeface="Arial" pitchFamily="34" charset="0"/>
              <a:buChar char="•"/>
            </a:pPr>
            <a:r>
              <a:rPr lang="en-IN" dirty="0">
                <a:latin typeface="Times New Roman" panose="02020603050405020304" pitchFamily="18" charset="0"/>
                <a:cs typeface="Times New Roman" panose="02020603050405020304" pitchFamily="18" charset="0"/>
              </a:rPr>
              <a:t> Controlling LED grow lights based on ambient light conditions</a:t>
            </a:r>
          </a:p>
          <a:p>
            <a:pPr lvl="1"/>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To implement real-time data transmission from the greenhouse to a mobile application using Wi-Fi (ESP32).</a:t>
            </a:r>
          </a:p>
          <a:p>
            <a:pPr lvl="0"/>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To design an energy-efficient and cost-effective embedded system for sustainable greenhouse management.</a:t>
            </a:r>
          </a:p>
          <a:p>
            <a:pPr lvl="0"/>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To enhance remote monitoring and control capabilities by integrating IoT features.</a:t>
            </a:r>
          </a:p>
          <a:p>
            <a:pPr lvl="0"/>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To provide a user-friendly mobile interface for:</a:t>
            </a:r>
            <a:endParaRPr lang="en-US" dirty="0">
              <a:latin typeface="Times New Roman" panose="02020603050405020304" pitchFamily="18" charset="0"/>
              <a:cs typeface="Times New Roman" panose="02020603050405020304" pitchFamily="18" charset="0"/>
            </a:endParaRPr>
          </a:p>
          <a:p>
            <a:pPr lvl="1">
              <a:buFont typeface="Arial" pitchFamily="34" charset="0"/>
              <a:buChar char="•"/>
            </a:pPr>
            <a:r>
              <a:rPr lang="en-IN" dirty="0">
                <a:latin typeface="Times New Roman" panose="02020603050405020304" pitchFamily="18" charset="0"/>
                <a:cs typeface="Times New Roman" panose="02020603050405020304" pitchFamily="18" charset="0"/>
              </a:rPr>
              <a:t> Live data viewing</a:t>
            </a:r>
            <a:endParaRPr lang="en-US" dirty="0">
              <a:latin typeface="Times New Roman" panose="02020603050405020304" pitchFamily="18" charset="0"/>
              <a:cs typeface="Times New Roman" panose="02020603050405020304" pitchFamily="18" charset="0"/>
            </a:endParaRPr>
          </a:p>
          <a:p>
            <a:pPr lvl="1">
              <a:buFont typeface="Arial" pitchFamily="34" charset="0"/>
              <a:buChar char="•"/>
            </a:pPr>
            <a:r>
              <a:rPr lang="en-IN" dirty="0">
                <a:latin typeface="Times New Roman" panose="02020603050405020304" pitchFamily="18" charset="0"/>
                <a:cs typeface="Times New Roman" panose="02020603050405020304" pitchFamily="18" charset="0"/>
              </a:rPr>
              <a:t> System alerts or notifications</a:t>
            </a:r>
            <a:endParaRPr lang="en-US" dirty="0">
              <a:latin typeface="Times New Roman" panose="02020603050405020304" pitchFamily="18" charset="0"/>
              <a:cs typeface="Times New Roman" panose="02020603050405020304" pitchFamily="18" charset="0"/>
            </a:endParaRPr>
          </a:p>
          <a:p>
            <a:pPr lvl="1">
              <a:buFont typeface="Arial" pitchFamily="34" charset="0"/>
              <a:buChar char="•"/>
            </a:pPr>
            <a:r>
              <a:rPr lang="en-IN" dirty="0">
                <a:latin typeface="Times New Roman" panose="02020603050405020304" pitchFamily="18" charset="0"/>
                <a:cs typeface="Times New Roman" panose="02020603050405020304" pitchFamily="18" charset="0"/>
              </a:rPr>
              <a:t> Manual override of automation (if needed)</a:t>
            </a:r>
            <a:endParaRPr 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6589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D4B4E4-BA67-5A8F-2D4C-867C0C3A8270}"/>
              </a:ext>
            </a:extLst>
          </p:cNvPr>
          <p:cNvSpPr>
            <a:spLocks noGrp="1"/>
          </p:cNvSpPr>
          <p:nvPr>
            <p:ph type="sldNum" sz="quarter" idx="12"/>
          </p:nvPr>
        </p:nvSpPr>
        <p:spPr/>
        <p:txBody>
          <a:bodyPr/>
          <a:lstStyle/>
          <a:p>
            <a:fld id="{E3D1FF4C-2068-4BA9-9B4D-17B36DE2EA0F}" type="slidenum">
              <a:rPr lang="en-IN" smtClean="0"/>
              <a:pPr/>
              <a:t>5</a:t>
            </a:fld>
            <a:endParaRPr lang="en-IN" dirty="0"/>
          </a:p>
        </p:txBody>
      </p:sp>
      <p:sp>
        <p:nvSpPr>
          <p:cNvPr id="6" name="TextBox 5">
            <a:extLst>
              <a:ext uri="{FF2B5EF4-FFF2-40B4-BE49-F238E27FC236}">
                <a16:creationId xmlns:a16="http://schemas.microsoft.com/office/drawing/2014/main" id="{DEB9B5A3-5CCD-86EF-A289-659895265749}"/>
              </a:ext>
            </a:extLst>
          </p:cNvPr>
          <p:cNvSpPr txBox="1"/>
          <p:nvPr/>
        </p:nvSpPr>
        <p:spPr>
          <a:xfrm>
            <a:off x="1520890" y="216550"/>
            <a:ext cx="6102220" cy="584775"/>
          </a:xfrm>
          <a:prstGeom prst="rect">
            <a:avLst/>
          </a:prstGeom>
          <a:noFill/>
        </p:spPr>
        <p:txBody>
          <a:bodyPr wrap="square">
            <a:spAutoFit/>
          </a:bodyPr>
          <a:lstStyle/>
          <a:p>
            <a:pPr algn="ctr"/>
            <a:r>
              <a:rPr lang="en-GB" sz="3200" b="1" dirty="0">
                <a:solidFill>
                  <a:srgbClr val="FF0000"/>
                </a:solidFill>
                <a:latin typeface="Times New Roman" pitchFamily="18" charset="0"/>
                <a:cs typeface="Times New Roman" pitchFamily="18" charset="0"/>
              </a:rPr>
              <a:t>            Literature Survey:</a:t>
            </a:r>
          </a:p>
        </p:txBody>
      </p:sp>
      <p:graphicFrame>
        <p:nvGraphicFramePr>
          <p:cNvPr id="8" name="Table 7">
            <a:extLst>
              <a:ext uri="{FF2B5EF4-FFF2-40B4-BE49-F238E27FC236}">
                <a16:creationId xmlns:a16="http://schemas.microsoft.com/office/drawing/2014/main" id="{381370EB-4D2E-42B9-203F-188F3A68C7CF}"/>
              </a:ext>
            </a:extLst>
          </p:cNvPr>
          <p:cNvGraphicFramePr>
            <a:graphicFrameLocks noGrp="1"/>
          </p:cNvGraphicFramePr>
          <p:nvPr>
            <p:extLst>
              <p:ext uri="{D42A27DB-BD31-4B8C-83A1-F6EECF244321}">
                <p14:modId xmlns:p14="http://schemas.microsoft.com/office/powerpoint/2010/main" val="3857891870"/>
              </p:ext>
            </p:extLst>
          </p:nvPr>
        </p:nvGraphicFramePr>
        <p:xfrm>
          <a:off x="289249" y="801325"/>
          <a:ext cx="11597952" cy="5685077"/>
        </p:xfrm>
        <a:graphic>
          <a:graphicData uri="http://schemas.openxmlformats.org/drawingml/2006/table">
            <a:tbl>
              <a:tblPr firstRow="1" bandRow="1">
                <a:tableStyleId>{5C22544A-7EE6-4342-B048-85BDC9FD1C3A}</a:tableStyleId>
              </a:tblPr>
              <a:tblGrid>
                <a:gridCol w="2752662">
                  <a:extLst>
                    <a:ext uri="{9D8B030D-6E8A-4147-A177-3AD203B41FA5}">
                      <a16:colId xmlns:a16="http://schemas.microsoft.com/office/drawing/2014/main" val="2178998121"/>
                    </a:ext>
                  </a:extLst>
                </a:gridCol>
                <a:gridCol w="2736660">
                  <a:extLst>
                    <a:ext uri="{9D8B030D-6E8A-4147-A177-3AD203B41FA5}">
                      <a16:colId xmlns:a16="http://schemas.microsoft.com/office/drawing/2014/main" val="2241265171"/>
                    </a:ext>
                  </a:extLst>
                </a:gridCol>
                <a:gridCol w="2713670">
                  <a:extLst>
                    <a:ext uri="{9D8B030D-6E8A-4147-A177-3AD203B41FA5}">
                      <a16:colId xmlns:a16="http://schemas.microsoft.com/office/drawing/2014/main" val="1663325298"/>
                    </a:ext>
                  </a:extLst>
                </a:gridCol>
                <a:gridCol w="3394960">
                  <a:extLst>
                    <a:ext uri="{9D8B030D-6E8A-4147-A177-3AD203B41FA5}">
                      <a16:colId xmlns:a16="http://schemas.microsoft.com/office/drawing/2014/main" val="2783071079"/>
                    </a:ext>
                  </a:extLst>
                </a:gridCol>
              </a:tblGrid>
              <a:tr h="738226">
                <a:tc>
                  <a:txBody>
                    <a:bodyPr/>
                    <a:lstStyle/>
                    <a:p>
                      <a:pPr algn="ctr"/>
                      <a:r>
                        <a:rPr lang="en-IN" b="1" dirty="0">
                          <a:solidFill>
                            <a:schemeClr val="tx1">
                              <a:lumMod val="95000"/>
                              <a:lumOff val="5000"/>
                            </a:schemeClr>
                          </a:solidFill>
                          <a:latin typeface="Times New Roman" panose="02020603050405020304" pitchFamily="18" charset="0"/>
                          <a:cs typeface="Times New Roman" panose="02020603050405020304" pitchFamily="18" charset="0"/>
                        </a:rPr>
                        <a:t>AUTHOR</a:t>
                      </a:r>
                    </a:p>
                  </a:txBody>
                  <a:tcPr/>
                </a:tc>
                <a:tc>
                  <a:txBody>
                    <a:bodyPr/>
                    <a:lstStyle/>
                    <a:p>
                      <a:pPr algn="ctr"/>
                      <a:r>
                        <a:rPr lang="en-IN" dirty="0">
                          <a:solidFill>
                            <a:schemeClr val="tx1">
                              <a:lumMod val="95000"/>
                              <a:lumOff val="5000"/>
                            </a:schemeClr>
                          </a:solidFill>
                          <a:latin typeface="Times New Roman" panose="02020603050405020304" pitchFamily="18" charset="0"/>
                          <a:cs typeface="Times New Roman" panose="02020603050405020304" pitchFamily="18" charset="0"/>
                        </a:rPr>
                        <a:t>TITLE</a:t>
                      </a:r>
                    </a:p>
                  </a:txBody>
                  <a:tcPr/>
                </a:tc>
                <a:tc>
                  <a:txBody>
                    <a:bodyPr/>
                    <a:lstStyle/>
                    <a:p>
                      <a:pPr algn="ctr"/>
                      <a:r>
                        <a:rPr lang="en-IN" dirty="0">
                          <a:solidFill>
                            <a:schemeClr val="tx1">
                              <a:lumMod val="95000"/>
                              <a:lumOff val="5000"/>
                            </a:schemeClr>
                          </a:solidFill>
                          <a:latin typeface="Times New Roman" panose="02020603050405020304" pitchFamily="18" charset="0"/>
                          <a:cs typeface="Times New Roman" panose="02020603050405020304" pitchFamily="18" charset="0"/>
                        </a:rPr>
                        <a:t>TYPE/YEAR</a:t>
                      </a:r>
                    </a:p>
                  </a:txBody>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SUMMARY / KEY CONTRIBUTION</a:t>
                      </a:r>
                    </a:p>
                  </a:txBody>
                  <a:tcPr/>
                </a:tc>
                <a:extLst>
                  <a:ext uri="{0D108BD9-81ED-4DB2-BD59-A6C34878D82A}">
                    <a16:rowId xmlns:a16="http://schemas.microsoft.com/office/drawing/2014/main" val="3035743322"/>
                  </a:ext>
                </a:extLst>
              </a:tr>
              <a:tr h="4946851">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 Bhagyashree                  2. </a:t>
                      </a:r>
                      <a:r>
                        <a:rPr lang="en-IN" dirty="0" err="1">
                          <a:latin typeface="Times New Roman" panose="02020603050405020304" pitchFamily="18" charset="0"/>
                          <a:cs typeface="Times New Roman" panose="02020603050405020304" pitchFamily="18" charset="0"/>
                        </a:rPr>
                        <a:t>Pandurangi</a:t>
                      </a:r>
                      <a:r>
                        <a:rPr lang="en-IN" dirty="0">
                          <a:latin typeface="Times New Roman" panose="02020603050405020304" pitchFamily="18" charset="0"/>
                          <a:cs typeface="Times New Roman" panose="02020603050405020304" pitchFamily="18" charset="0"/>
                        </a:rPr>
                        <a:t>*1, </a:t>
                      </a:r>
                    </a:p>
                    <a:p>
                      <a:r>
                        <a:rPr lang="en-IN" dirty="0">
                          <a:latin typeface="Times New Roman" panose="02020603050405020304" pitchFamily="18" charset="0"/>
                          <a:cs typeface="Times New Roman" panose="02020603050405020304" pitchFamily="18" charset="0"/>
                        </a:rPr>
                        <a:t>3. Sachin G Teradal*2 </a:t>
                      </a:r>
                    </a:p>
                  </a:txBody>
                  <a:tcPr/>
                </a:tc>
                <a:tc>
                  <a:txBody>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Next-generation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-powered smart greenhouse</a:t>
                      </a:r>
                    </a:p>
                  </a:txBody>
                  <a:tcPr/>
                </a:tc>
                <a:tc>
                  <a: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International Research Journal of Modernization in Engineering Technology and Science Volume:07/Issue:06/June-2025 </a:t>
                      </a:r>
                    </a:p>
                    <a:p>
                      <a:r>
                        <a:rPr lang="en-IN" dirty="0">
                          <a:latin typeface="Times New Roman" panose="02020603050405020304" pitchFamily="18" charset="0"/>
                          <a:cs typeface="Times New Roman" panose="02020603050405020304" pitchFamily="18" charset="0"/>
                        </a:rPr>
                        <a:t>e-ISSN: 2582-5208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The IoT-based greenhouse system enables efficient crop management by monitoring temperature, humidity, soil moisture, and light intensity. Color sensors detect plant stress through leaf pigmentation, adjusting light for better growth. Real-time cloud connectivity supports remote control, while automated irrigation and lighting conserve energy, water, and labor.</a:t>
                      </a:r>
                    </a:p>
                  </a:txBody>
                  <a:tcPr/>
                </a:tc>
                <a:extLst>
                  <a:ext uri="{0D108BD9-81ED-4DB2-BD59-A6C34878D82A}">
                    <a16:rowId xmlns:a16="http://schemas.microsoft.com/office/drawing/2014/main" val="60775833"/>
                  </a:ext>
                </a:extLst>
              </a:tr>
            </a:tbl>
          </a:graphicData>
        </a:graphic>
      </p:graphicFrame>
    </p:spTree>
    <p:extLst>
      <p:ext uri="{BB962C8B-B14F-4D97-AF65-F5344CB8AC3E}">
        <p14:creationId xmlns:p14="http://schemas.microsoft.com/office/powerpoint/2010/main" val="3367737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9F4FD6-3843-2462-8F7A-6F80DB2F2723}"/>
              </a:ext>
            </a:extLst>
          </p:cNvPr>
          <p:cNvSpPr>
            <a:spLocks noGrp="1"/>
          </p:cNvSpPr>
          <p:nvPr>
            <p:ph type="sldNum" sz="quarter" idx="12"/>
          </p:nvPr>
        </p:nvSpPr>
        <p:spPr/>
        <p:txBody>
          <a:bodyPr/>
          <a:lstStyle/>
          <a:p>
            <a:fld id="{E3D1FF4C-2068-4BA9-9B4D-17B36DE2EA0F}" type="slidenum">
              <a:rPr lang="en-IN" smtClean="0"/>
              <a:pPr/>
              <a:t>6</a:t>
            </a:fld>
            <a:endParaRPr lang="en-IN" dirty="0"/>
          </a:p>
        </p:txBody>
      </p:sp>
      <p:graphicFrame>
        <p:nvGraphicFramePr>
          <p:cNvPr id="4" name="Table 3">
            <a:extLst>
              <a:ext uri="{FF2B5EF4-FFF2-40B4-BE49-F238E27FC236}">
                <a16:creationId xmlns:a16="http://schemas.microsoft.com/office/drawing/2014/main" id="{94619D06-EC7D-0ADA-B7D0-E500F73B628A}"/>
              </a:ext>
            </a:extLst>
          </p:cNvPr>
          <p:cNvGraphicFramePr>
            <a:graphicFrameLocks noGrp="1"/>
          </p:cNvGraphicFramePr>
          <p:nvPr>
            <p:extLst>
              <p:ext uri="{D42A27DB-BD31-4B8C-83A1-F6EECF244321}">
                <p14:modId xmlns:p14="http://schemas.microsoft.com/office/powerpoint/2010/main" val="2519882442"/>
              </p:ext>
            </p:extLst>
          </p:nvPr>
        </p:nvGraphicFramePr>
        <p:xfrm>
          <a:off x="270588" y="269047"/>
          <a:ext cx="11635274" cy="6309480"/>
        </p:xfrm>
        <a:graphic>
          <a:graphicData uri="http://schemas.openxmlformats.org/drawingml/2006/table">
            <a:tbl>
              <a:tblPr firstRow="1" bandRow="1">
                <a:tableStyleId>{5C22544A-7EE6-4342-B048-85BDC9FD1C3A}</a:tableStyleId>
              </a:tblPr>
              <a:tblGrid>
                <a:gridCol w="3070402">
                  <a:extLst>
                    <a:ext uri="{9D8B030D-6E8A-4147-A177-3AD203B41FA5}">
                      <a16:colId xmlns:a16="http://schemas.microsoft.com/office/drawing/2014/main" val="2706053377"/>
                    </a:ext>
                  </a:extLst>
                </a:gridCol>
                <a:gridCol w="2482201">
                  <a:extLst>
                    <a:ext uri="{9D8B030D-6E8A-4147-A177-3AD203B41FA5}">
                      <a16:colId xmlns:a16="http://schemas.microsoft.com/office/drawing/2014/main" val="2829344107"/>
                    </a:ext>
                  </a:extLst>
                </a:gridCol>
                <a:gridCol w="2879870">
                  <a:extLst>
                    <a:ext uri="{9D8B030D-6E8A-4147-A177-3AD203B41FA5}">
                      <a16:colId xmlns:a16="http://schemas.microsoft.com/office/drawing/2014/main" val="2473501722"/>
                    </a:ext>
                  </a:extLst>
                </a:gridCol>
                <a:gridCol w="3202801">
                  <a:extLst>
                    <a:ext uri="{9D8B030D-6E8A-4147-A177-3AD203B41FA5}">
                      <a16:colId xmlns:a16="http://schemas.microsoft.com/office/drawing/2014/main" val="1249281543"/>
                    </a:ext>
                  </a:extLst>
                </a:gridCol>
              </a:tblGrid>
              <a:tr h="629685">
                <a:tc>
                  <a:txBody>
                    <a:bodyPr/>
                    <a:lstStyle/>
                    <a:p>
                      <a:pPr marL="250190" indent="-6350" algn="just">
                        <a:lnSpc>
                          <a:spcPct val="150000"/>
                        </a:lnSpc>
                        <a:spcAft>
                          <a:spcPts val="1040"/>
                        </a:spcAft>
                        <a:buNone/>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AUTHOR</a:t>
                      </a:r>
                    </a:p>
                  </a:txBody>
                  <a:tcPr marL="68580" marR="68580" marT="0" marB="0"/>
                </a:tc>
                <a:tc>
                  <a:txBody>
                    <a:bodyPr/>
                    <a:lstStyle/>
                    <a:p>
                      <a:r>
                        <a:rPr lang="en-IN" sz="1800" b="1" kern="1200" dirty="0">
                          <a:solidFill>
                            <a:schemeClr val="tx1"/>
                          </a:solidFill>
                          <a:effectLst/>
                          <a:latin typeface="Times New Roman" panose="02020603050405020304" pitchFamily="18" charset="0"/>
                          <a:ea typeface="+mn-ea"/>
                          <a:cs typeface="Times New Roman" panose="02020603050405020304" pitchFamily="18" charset="0"/>
                        </a:rPr>
                        <a:t>         TITLE</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kern="1200" dirty="0">
                          <a:solidFill>
                            <a:schemeClr val="lt1"/>
                          </a:solidFill>
                          <a:effectLst/>
                          <a:latin typeface="Times New Roman" panose="02020603050405020304" pitchFamily="18" charset="0"/>
                          <a:ea typeface="+mn-ea"/>
                          <a:cs typeface="Times New Roman" panose="02020603050405020304" pitchFamily="18" charset="0"/>
                        </a:rPr>
                        <a:t>       </a:t>
                      </a:r>
                      <a:r>
                        <a:rPr lang="en-IN" sz="1800" b="1"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rPr>
                        <a:t>TYPE/YEAR</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r>
                        <a:rPr lang="en-IN" sz="1800" b="1" kern="1200" dirty="0">
                          <a:solidFill>
                            <a:schemeClr val="tx1"/>
                          </a:solidFill>
                          <a:effectLst/>
                          <a:latin typeface="Times New Roman" panose="02020603050405020304" pitchFamily="18" charset="0"/>
                          <a:ea typeface="+mn-ea"/>
                          <a:cs typeface="Times New Roman" panose="02020603050405020304" pitchFamily="18" charset="0"/>
                        </a:rPr>
                        <a:t>        SUMMARY / KEY    CONTRIBUTION                   </a:t>
                      </a:r>
                      <a:endParaRPr lang="en-IN"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758557"/>
                  </a:ext>
                </a:extLst>
              </a:tr>
              <a:tr h="2788606">
                <a:tc>
                  <a:txBody>
                    <a:bodyPr/>
                    <a:lstStyle/>
                    <a:p>
                      <a:pPr marL="0" indent="0">
                        <a:buNone/>
                      </a:pP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1. </a:t>
                      </a: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A.Simo</a:t>
                      </a:r>
                      <a:endParaRPr lang="en-IN"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0" indent="0">
                        <a:buNone/>
                      </a:pP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2. S. </a:t>
                      </a: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Dzitac</a:t>
                      </a:r>
                      <a:endParaRPr lang="en-IN"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0" indent="0">
                        <a:buNone/>
                      </a:pP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3. G. E. Badea</a:t>
                      </a:r>
                    </a:p>
                    <a:p>
                      <a:pPr marL="0" indent="0">
                        <a:buNone/>
                      </a:pP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4. D. </a:t>
                      </a: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Meianu</a:t>
                      </a:r>
                      <a:endParaRPr lang="en-IN"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Smart Agriculture: IoT-based Greenhouse Monitoring System</a:t>
                      </a:r>
                      <a:endParaRPr lang="en-IN"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International journal of computers communications &amp; control</a:t>
                      </a:r>
                    </a:p>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Online ISSN 1841-9844, ISSN-L 1841-9836, Volume: 17, Issue: 6, Month: December, Year: 2022</a:t>
                      </a:r>
                    </a:p>
                    <a:p>
                      <a:endParaRPr lang="en-IN"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r>
                        <a:rPr lang="en-US" dirty="0">
                          <a:latin typeface="Times New Roman" panose="02020603050405020304" pitchFamily="18" charset="0"/>
                          <a:cs typeface="Times New Roman" panose="02020603050405020304" pitchFamily="18" charset="0"/>
                        </a:rPr>
                        <a:t>Smart agriculture applies IoT, cloud, and big data to enhance farming. A low-cost monitoring device is proposed to track environmental and electrical parameters. Findings show IoT enables data-driven decisions, reduces costs, and supports efficient, sustainable agricultural practices.</a:t>
                      </a:r>
                      <a:endParaRPr lang="en-IN"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995515"/>
                  </a:ext>
                </a:extLst>
              </a:tr>
              <a:tr h="2834760">
                <a:tc>
                  <a:txBody>
                    <a:bodyPr/>
                    <a:lstStyle/>
                    <a:p>
                      <a:pPr marL="0" indent="0">
                        <a:buNone/>
                      </a:pPr>
                      <a:r>
                        <a:rPr lang="en-IN" dirty="0">
                          <a:latin typeface="Times New Roman" panose="02020603050405020304" pitchFamily="18" charset="0"/>
                          <a:cs typeface="Times New Roman" panose="02020603050405020304" pitchFamily="18" charset="0"/>
                        </a:rPr>
                        <a:t>1.Israr Ullah </a:t>
                      </a:r>
                    </a:p>
                    <a:p>
                      <a:pPr marL="0" indent="0">
                        <a:buNone/>
                      </a:pPr>
                      <a:r>
                        <a:rPr lang="en-IN" dirty="0">
                          <a:latin typeface="Times New Roman" panose="02020603050405020304" pitchFamily="18" charset="0"/>
                          <a:cs typeface="Times New Roman" panose="02020603050405020304" pitchFamily="18" charset="0"/>
                        </a:rPr>
                        <a:t>2.Muhammad Fayaz  3.Muhammad Aman </a:t>
                      </a:r>
                    </a:p>
                    <a:p>
                      <a:pPr marL="0" indent="0">
                        <a:buNone/>
                      </a:pPr>
                      <a:r>
                        <a:rPr lang="en-IN" dirty="0">
                          <a:latin typeface="Times New Roman" panose="02020603050405020304" pitchFamily="18" charset="0"/>
                          <a:cs typeface="Times New Roman" panose="02020603050405020304" pitchFamily="18" charset="0"/>
                        </a:rPr>
                        <a:t>4.DohyeunKim</a:t>
                      </a:r>
                    </a:p>
                  </a:txBody>
                  <a:tcPr>
                    <a:lnT w="12700" cap="flat" cmpd="sng" algn="ctr">
                      <a:solidFill>
                        <a:schemeClr val="tx1"/>
                      </a:solidFill>
                      <a:prstDash val="solid"/>
                      <a:round/>
                      <a:headEnd type="none" w="med" len="med"/>
                      <a:tailEnd type="none" w="med" len="med"/>
                    </a:lnT>
                  </a:tcPr>
                </a:tc>
                <a:tc>
                  <a:txBody>
                    <a:bodyPr/>
                    <a:lstStyle/>
                    <a:p>
                      <a:r>
                        <a:rPr lang="en-US" dirty="0">
                          <a:latin typeface="Times New Roman" panose="02020603050405020304" pitchFamily="18" charset="0"/>
                          <a:cs typeface="Times New Roman" panose="02020603050405020304" pitchFamily="18" charset="0"/>
                        </a:rPr>
                        <a:t>Toward autonomous farming—a novel scheme based on learning to prediction and optimization for smart greenhouse environment control</a:t>
                      </a:r>
                      <a:endParaRPr lang="en-IN"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r>
                        <a:rPr lang="en-US" dirty="0">
                          <a:latin typeface="Times New Roman" panose="02020603050405020304" pitchFamily="18" charset="0"/>
                          <a:cs typeface="Times New Roman" panose="02020603050405020304" pitchFamily="18" charset="0"/>
                        </a:rPr>
                        <a:t>IEEE Internet of things journal, Volume:9, </a:t>
                      </a:r>
                    </a:p>
                    <a:p>
                      <a:r>
                        <a:rPr lang="en-US" dirty="0">
                          <a:latin typeface="Times New Roman" panose="02020603050405020304" pitchFamily="18" charset="0"/>
                          <a:cs typeface="Times New Roman" panose="02020603050405020304" pitchFamily="18" charset="0"/>
                        </a:rPr>
                        <a:t>NO. 24, 15 December 2022</a:t>
                      </a:r>
                      <a:endParaRPr lang="en-IN"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The IoT-based ANN greenhouse model integrates prediction, optimization, and control, ensuring adaptive climate management, higher yield, and reduced energy consumption by 61.97% compared to baseline and 11.73% over standard optimization</a:t>
                      </a:r>
                      <a:r>
                        <a:rPr lang="en-US" dirty="0"/>
                        <a:t>.</a:t>
                      </a:r>
                      <a:endParaRPr 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10897799"/>
                  </a:ext>
                </a:extLst>
              </a:tr>
            </a:tbl>
          </a:graphicData>
        </a:graphic>
      </p:graphicFrame>
    </p:spTree>
    <p:extLst>
      <p:ext uri="{BB962C8B-B14F-4D97-AF65-F5344CB8AC3E}">
        <p14:creationId xmlns:p14="http://schemas.microsoft.com/office/powerpoint/2010/main" val="667326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3813" y="377714"/>
            <a:ext cx="8350897" cy="4585871"/>
          </a:xfrm>
          <a:prstGeom prst="rect">
            <a:avLst/>
          </a:prstGeom>
          <a:noFill/>
        </p:spPr>
        <p:txBody>
          <a:bodyPr wrap="square" rtlCol="0">
            <a:spAutoFit/>
          </a:bodyPr>
          <a:lstStyle/>
          <a:p>
            <a:pPr algn="ctr"/>
            <a:r>
              <a:rPr lang="en-IN" sz="3200" b="1" dirty="0">
                <a:solidFill>
                  <a:srgbClr val="FF0000"/>
                </a:solidFill>
                <a:latin typeface="Times New Roman" pitchFamily="18" charset="0"/>
                <a:cs typeface="Times New Roman" pitchFamily="18" charset="0"/>
              </a:rPr>
              <a:t>Methodology :</a:t>
            </a:r>
          </a:p>
          <a:p>
            <a:endParaRPr lang="en-IN" sz="3200" dirty="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a:p>
            <a:endParaRPr lang="en-IN" dirty="0"/>
          </a:p>
          <a:p>
            <a:r>
              <a:rPr lang="en-IN" dirty="0"/>
              <a:t> </a:t>
            </a:r>
          </a:p>
        </p:txBody>
      </p:sp>
      <p:pic>
        <p:nvPicPr>
          <p:cNvPr id="4" name="Picture 3">
            <a:extLst>
              <a:ext uri="{FF2B5EF4-FFF2-40B4-BE49-F238E27FC236}">
                <a16:creationId xmlns:a16="http://schemas.microsoft.com/office/drawing/2014/main" id="{D6325DC7-67EA-2D61-74ED-652A61F8E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987" y="1225685"/>
            <a:ext cx="7083772" cy="4735277"/>
          </a:xfrm>
          <a:prstGeom prst="rect">
            <a:avLst/>
          </a:prstGeom>
        </p:spPr>
      </p:pic>
    </p:spTree>
    <p:extLst>
      <p:ext uri="{BB962C8B-B14F-4D97-AF65-F5344CB8AC3E}">
        <p14:creationId xmlns:p14="http://schemas.microsoft.com/office/powerpoint/2010/main" val="258821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81618" y="370936"/>
            <a:ext cx="10228764" cy="6663363"/>
          </a:xfrm>
          <a:prstGeom prst="rect">
            <a:avLst/>
          </a:prstGeom>
        </p:spPr>
        <p:txBody>
          <a:bodyPr wrap="square">
            <a:spAutoFit/>
          </a:bodyPr>
          <a:lstStyle/>
          <a:p>
            <a:r>
              <a:rPr lang="en-IN" sz="3200" b="1" dirty="0">
                <a:solidFill>
                  <a:srgbClr val="FF0000"/>
                </a:solidFill>
                <a:latin typeface="Times New Roman" panose="02020603050405020304" charset="0"/>
                <a:cs typeface="Times New Roman" panose="02020603050405020304" charset="0"/>
              </a:rPr>
              <a:t>             </a:t>
            </a:r>
            <a:r>
              <a:rPr lang="en-IN" sz="3200" b="1" dirty="0">
                <a:solidFill>
                  <a:srgbClr val="FF0000"/>
                </a:solidFill>
                <a:latin typeface="Times New Roman" panose="02020603050405020304" pitchFamily="18" charset="0"/>
                <a:cs typeface="Times New Roman" panose="02020603050405020304" pitchFamily="18" charset="0"/>
              </a:rPr>
              <a:t>H</a:t>
            </a:r>
            <a:r>
              <a:rPr lang="en-US" sz="3200" b="1" dirty="0" err="1">
                <a:solidFill>
                  <a:srgbClr val="FF0000"/>
                </a:solidFill>
                <a:latin typeface="Times New Roman" panose="02020603050405020304" pitchFamily="18" charset="0"/>
                <a:cs typeface="Times New Roman" panose="02020603050405020304" pitchFamily="18" charset="0"/>
              </a:rPr>
              <a:t>ardware</a:t>
            </a:r>
            <a:r>
              <a:rPr lang="en-US" altLang="en-IN" sz="3200" b="1"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 </a:t>
            </a:r>
            <a:r>
              <a:rPr lang="en-US" altLang="en-IN" sz="3200" b="1" dirty="0">
                <a:solidFill>
                  <a:srgbClr val="FF0000"/>
                </a:solidFill>
                <a:latin typeface="Times New Roman" panose="02020603050405020304" pitchFamily="18" charset="0"/>
                <a:cs typeface="Times New Roman" panose="02020603050405020304" pitchFamily="18" charset="0"/>
              </a:rPr>
              <a:t>Requirements:</a:t>
            </a:r>
          </a:p>
          <a:p>
            <a:endParaRPr lang="en-IN" sz="3200" b="1" dirty="0">
              <a:solidFill>
                <a:srgbClr val="FF0000"/>
              </a:solidFill>
              <a:cs typeface="Times New Roman" panose="02020603050405020304" charset="0"/>
            </a:endParaRPr>
          </a:p>
          <a:p>
            <a:pPr marL="342900" indent="-342900">
              <a:lnSpc>
                <a:spcPct val="150000"/>
              </a:lnSpc>
            </a:pPr>
            <a:endParaRPr lang="en-IN" dirty="0">
              <a:cs typeface="Times New Roman" panose="02020603050405020304" charset="0"/>
            </a:endParaRPr>
          </a:p>
          <a:p>
            <a:pPr indent="0">
              <a:lnSpc>
                <a:spcPct val="150000"/>
              </a:lnSpc>
              <a:buFont typeface="Wingdings" panose="05000000000000000000" charset="0"/>
              <a:buNone/>
            </a:pPr>
            <a:endParaRPr lang="en-IN" sz="2400" dirty="0">
              <a:cs typeface="Times New Roman" panose="02020603050405020304" charset="0"/>
            </a:endParaRPr>
          </a:p>
          <a:p>
            <a:endParaRPr lang="en-US" altLang="en-IN" sz="3200" b="1" dirty="0">
              <a:solidFill>
                <a:srgbClr val="FF0000"/>
              </a:solidFill>
              <a:cs typeface="Times New Roman" panose="02020603050405020304" charset="0"/>
            </a:endParaRPr>
          </a:p>
          <a:p>
            <a:endParaRPr lang="en-US" altLang="en-IN" sz="3200" b="1" dirty="0">
              <a:solidFill>
                <a:srgbClr val="FF0000"/>
              </a:solidFill>
              <a:cs typeface="Times New Roman" panose="02020603050405020304" charset="0"/>
            </a:endParaRPr>
          </a:p>
          <a:p>
            <a:endParaRPr lang="en-US" altLang="en-IN" sz="3200" b="1" dirty="0">
              <a:solidFill>
                <a:srgbClr val="FF0000"/>
              </a:solidFill>
              <a:cs typeface="Times New Roman" panose="02020603050405020304" charset="0"/>
            </a:endParaRPr>
          </a:p>
          <a:p>
            <a:endParaRPr lang="en-US" altLang="en-IN" sz="3200" b="1" dirty="0">
              <a:solidFill>
                <a:srgbClr val="FF0000"/>
              </a:solidFill>
              <a:cs typeface="Times New Roman" panose="02020603050405020304" charset="0"/>
            </a:endParaRPr>
          </a:p>
          <a:p>
            <a:endParaRPr lang="en-US" altLang="en-IN" sz="3200" b="1" dirty="0">
              <a:solidFill>
                <a:srgbClr val="FF0000"/>
              </a:solidFill>
              <a:cs typeface="Times New Roman" panose="02020603050405020304" charset="0"/>
            </a:endParaRPr>
          </a:p>
          <a:p>
            <a:r>
              <a:rPr lang="en-US" altLang="en-IN" sz="3200" b="1" dirty="0">
                <a:solidFill>
                  <a:srgbClr val="FF0000"/>
                </a:solidFill>
                <a:cs typeface="Times New Roman" panose="02020603050405020304" charset="0"/>
              </a:rPr>
              <a:t>			</a:t>
            </a:r>
            <a:r>
              <a:rPr lang="en-US" altLang="en-IN" sz="3200" b="1" dirty="0">
                <a:solidFill>
                  <a:srgbClr val="FF0000"/>
                </a:solidFill>
                <a:latin typeface="Times New Roman" panose="02020603050405020304" pitchFamily="18" charset="0"/>
                <a:cs typeface="Times New Roman" panose="02020603050405020304" pitchFamily="18" charset="0"/>
              </a:rPr>
              <a:t>Software Requirements:</a:t>
            </a:r>
            <a:endParaRPr lang="en-IN" sz="3200" b="1" dirty="0">
              <a:solidFill>
                <a:srgbClr val="FF0000"/>
              </a:solidFill>
              <a:latin typeface="Times New Roman" panose="02020603050405020304" pitchFamily="18" charset="0"/>
              <a:cs typeface="Times New Roman" panose="02020603050405020304" pitchFamily="18" charset="0"/>
            </a:endParaRPr>
          </a:p>
          <a:p>
            <a:pPr marL="342900" indent="-342900">
              <a:lnSpc>
                <a:spcPct val="150000"/>
              </a:lnSpc>
              <a:buFont typeface="Wingdings" pitchFamily="2" charset="2"/>
              <a:buChar char="q"/>
            </a:pPr>
            <a:r>
              <a:rPr lang="en-IN" dirty="0">
                <a:latin typeface="Times New Roman" panose="02020603050405020304" pitchFamily="18" charset="0"/>
                <a:cs typeface="Times New Roman" panose="02020603050405020304" pitchFamily="18" charset="0"/>
              </a:rPr>
              <a:t>Arduino IDE.</a:t>
            </a:r>
          </a:p>
          <a:p>
            <a:pPr marL="342900" indent="-342900">
              <a:lnSpc>
                <a:spcPct val="150000"/>
              </a:lnSpc>
              <a:buFont typeface="Wingdings" pitchFamily="2" charset="2"/>
              <a:buChar char="q"/>
            </a:pPr>
            <a:r>
              <a:rPr lang="en-IN" dirty="0">
                <a:latin typeface="Times New Roman" panose="02020603050405020304" pitchFamily="18" charset="0"/>
                <a:cs typeface="Times New Roman" panose="02020603050405020304" pitchFamily="18" charset="0"/>
              </a:rPr>
              <a:t>Blynk App.</a:t>
            </a:r>
          </a:p>
          <a:p>
            <a:pPr marL="342900" indent="-342900">
              <a:lnSpc>
                <a:spcPct val="150000"/>
              </a:lnSpc>
              <a:buFont typeface="Wingdings" pitchFamily="2" charset="2"/>
              <a:buChar char="q"/>
            </a:pPr>
            <a:r>
              <a:rPr lang="en-US" dirty="0">
                <a:latin typeface="Times New Roman" panose="02020603050405020304" pitchFamily="18" charset="0"/>
                <a:cs typeface="Times New Roman" panose="02020603050405020304" pitchFamily="18" charset="0"/>
              </a:rPr>
              <a:t>IoT Dashboard.</a:t>
            </a:r>
          </a:p>
          <a:p>
            <a:pPr marL="342900" indent="-342900">
              <a:lnSpc>
                <a:spcPct val="150000"/>
              </a:lnSpc>
              <a:buFont typeface="Arial" panose="020B0604020202020204" pitchFamily="34" charset="0"/>
              <a:buChar char="•"/>
            </a:pPr>
            <a:endParaRPr lang="en-IN" dirty="0"/>
          </a:p>
        </p:txBody>
      </p:sp>
      <p:pic>
        <p:nvPicPr>
          <p:cNvPr id="4" name="Picture 3" descr="Hardware components required for smart green house project.png"/>
          <p:cNvPicPr>
            <a:picLocks noChangeAspect="1"/>
          </p:cNvPicPr>
          <p:nvPr/>
        </p:nvPicPr>
        <p:blipFill>
          <a:blip r:embed="rId2"/>
          <a:stretch>
            <a:fillRect/>
          </a:stretch>
        </p:blipFill>
        <p:spPr>
          <a:xfrm>
            <a:off x="862631" y="920776"/>
            <a:ext cx="7910423" cy="3823756"/>
          </a:xfrm>
          <a:prstGeom prst="rect">
            <a:avLst/>
          </a:prstGeom>
        </p:spPr>
      </p:pic>
    </p:spTree>
    <p:extLst>
      <p:ext uri="{BB962C8B-B14F-4D97-AF65-F5344CB8AC3E}">
        <p14:creationId xmlns:p14="http://schemas.microsoft.com/office/powerpoint/2010/main" val="3277332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D7C61AC-EEE2-D8E1-B58B-1D9F0AF6A1C1}"/>
              </a:ext>
            </a:extLst>
          </p:cNvPr>
          <p:cNvGraphicFramePr>
            <a:graphicFrameLocks noGrp="1"/>
          </p:cNvGraphicFramePr>
          <p:nvPr>
            <p:extLst>
              <p:ext uri="{D42A27DB-BD31-4B8C-83A1-F6EECF244321}">
                <p14:modId xmlns:p14="http://schemas.microsoft.com/office/powerpoint/2010/main" val="2039984227"/>
              </p:ext>
            </p:extLst>
          </p:nvPr>
        </p:nvGraphicFramePr>
        <p:xfrm>
          <a:off x="654697" y="357880"/>
          <a:ext cx="10814180" cy="6217920"/>
        </p:xfrm>
        <a:graphic>
          <a:graphicData uri="http://schemas.openxmlformats.org/drawingml/2006/table">
            <a:tbl>
              <a:tblPr firstRow="1" bandRow="1">
                <a:tableStyleId>{5940675A-B579-460E-94D1-54222C63F5DA}</a:tableStyleId>
              </a:tblPr>
              <a:tblGrid>
                <a:gridCol w="5407090">
                  <a:extLst>
                    <a:ext uri="{9D8B030D-6E8A-4147-A177-3AD203B41FA5}">
                      <a16:colId xmlns:a16="http://schemas.microsoft.com/office/drawing/2014/main" val="2841537260"/>
                    </a:ext>
                  </a:extLst>
                </a:gridCol>
                <a:gridCol w="5407090">
                  <a:extLst>
                    <a:ext uri="{9D8B030D-6E8A-4147-A177-3AD203B41FA5}">
                      <a16:colId xmlns:a16="http://schemas.microsoft.com/office/drawing/2014/main" val="2448140469"/>
                    </a:ext>
                  </a:extLst>
                </a:gridCol>
              </a:tblGrid>
              <a:tr h="3909320">
                <a:tc>
                  <a:txBody>
                    <a:bodyPr/>
                    <a:lstStyle/>
                    <a:p>
                      <a:pPr algn="ctr"/>
                      <a:r>
                        <a:rPr lang="en-IN" sz="2000" b="1" dirty="0">
                          <a:solidFill>
                            <a:srgbClr val="FF0000"/>
                          </a:solidFill>
                          <a:latin typeface="Times New Roman" panose="02020603050405020304" pitchFamily="18" charset="0"/>
                          <a:cs typeface="Times New Roman" panose="02020603050405020304" pitchFamily="18" charset="0"/>
                        </a:rPr>
                        <a:t>ESP 32:</a:t>
                      </a:r>
                    </a:p>
                  </a:txBody>
                  <a:tcPr/>
                </a:tc>
                <a:tc>
                  <a:txBody>
                    <a:bodyPr/>
                    <a:lstStyle/>
                    <a:p>
                      <a:pPr marL="342900" indent="-342900">
                        <a:buAutoNum type="arabicPeriod"/>
                      </a:pPr>
                      <a:r>
                        <a:rPr lang="en-US" dirty="0">
                          <a:latin typeface="Times New Roman" panose="02020603050405020304" pitchFamily="18" charset="0"/>
                          <a:cs typeface="Times New Roman" panose="02020603050405020304" pitchFamily="18" charset="0"/>
                        </a:rPr>
                        <a:t>ESP32 Dev Kit is a powerful microcontroller board with integrated Wi-Fi and Bluetooth.</a:t>
                      </a:r>
                    </a:p>
                    <a:p>
                      <a:pPr marL="342900" indent="-342900">
                        <a:buAutoNum type="arabicPeriod"/>
                      </a:pPr>
                      <a:r>
                        <a:rPr lang="en-US" dirty="0">
                          <a:latin typeface="Times New Roman" panose="02020603050405020304" pitchFamily="18" charset="0"/>
                          <a:cs typeface="Times New Roman" panose="02020603050405020304" pitchFamily="18" charset="0"/>
                        </a:rPr>
                        <a:t>It features a dual-core 32-bit processor for high-performance applications.</a:t>
                      </a:r>
                    </a:p>
                    <a:p>
                      <a:pPr marL="342900" indent="-342900">
                        <a:buAutoNum type="arabicPeriod"/>
                      </a:pPr>
                      <a:r>
                        <a:rPr lang="en-US" dirty="0">
                          <a:latin typeface="Times New Roman" panose="02020603050405020304" pitchFamily="18" charset="0"/>
                          <a:cs typeface="Times New Roman" panose="02020603050405020304" pitchFamily="18" charset="0"/>
                        </a:rPr>
                        <a:t>The board operates at 3.3V logic with multiple GPIO pins.</a:t>
                      </a:r>
                    </a:p>
                    <a:p>
                      <a:pPr marL="342900" indent="-342900">
                        <a:buAutoNum type="arabicPeriod"/>
                      </a:pPr>
                      <a:r>
                        <a:rPr lang="en-US" dirty="0">
                          <a:latin typeface="Times New Roman" panose="02020603050405020304" pitchFamily="18" charset="0"/>
                          <a:cs typeface="Times New Roman" panose="02020603050405020304" pitchFamily="18" charset="0"/>
                        </a:rPr>
                        <a:t>It comes with 4 MB flash memory for code and data storage.</a:t>
                      </a:r>
                    </a:p>
                    <a:p>
                      <a:pPr marL="342900" indent="-342900">
                        <a:buAutoNum type="arabicPeriod"/>
                      </a:pPr>
                      <a:r>
                        <a:rPr lang="en-US" dirty="0">
                          <a:latin typeface="Times New Roman" panose="02020603050405020304" pitchFamily="18" charset="0"/>
                          <a:cs typeface="Times New Roman" panose="02020603050405020304" pitchFamily="18" charset="0"/>
                        </a:rPr>
                        <a:t>It includes built-in support for SPI, I2C, UART, ADC, and PWM.</a:t>
                      </a:r>
                    </a:p>
                    <a:p>
                      <a:pPr marL="342900" indent="-342900">
                        <a:buAutoNum type="arabicPeriod"/>
                      </a:pPr>
                      <a:r>
                        <a:rPr lang="en-US" dirty="0">
                          <a:latin typeface="Times New Roman" panose="02020603050405020304" pitchFamily="18" charset="0"/>
                          <a:cs typeface="Times New Roman" panose="02020603050405020304" pitchFamily="18" charset="0"/>
                        </a:rPr>
                        <a:t>It includes built-in sensors like a hall sensor and touch sensors.</a:t>
                      </a:r>
                    </a:p>
                    <a:p>
                      <a:pPr marL="342900" indent="-342900">
                        <a:buAutoNum type="arabicPeriod"/>
                      </a:pPr>
                      <a:r>
                        <a:rPr lang="en-US" dirty="0">
                          <a:latin typeface="Times New Roman" panose="02020603050405020304" pitchFamily="18" charset="0"/>
                          <a:cs typeface="Times New Roman" panose="02020603050405020304" pitchFamily="18" charset="0"/>
                        </a:rPr>
                        <a:t>The board supports deep sleep mode for low-power applications.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3317459"/>
                  </a:ext>
                </a:extLst>
              </a:tr>
              <a:tr h="2233982">
                <a:tc>
                  <a:txBody>
                    <a:bodyPr/>
                    <a:lstStyle/>
                    <a:p>
                      <a:pPr algn="ctr"/>
                      <a:r>
                        <a:rPr lang="en-IN" sz="2000" b="1" dirty="0">
                          <a:solidFill>
                            <a:srgbClr val="FF0000"/>
                          </a:solidFill>
                          <a:latin typeface="Times New Roman" panose="02020603050405020304" pitchFamily="18" charset="0"/>
                          <a:cs typeface="Times New Roman" panose="02020603050405020304" pitchFamily="18" charset="0"/>
                        </a:rPr>
                        <a:t>DHT 11 SENSOR:</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latin typeface="Times New Roman" panose="02020603050405020304" pitchFamily="18" charset="0"/>
                          <a:cs typeface="Times New Roman" panose="02020603050405020304" pitchFamily="18" charset="0"/>
                        </a:rPr>
                        <a:t>DHT11 is a digital sensor that measures temperature and humidity.</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latin typeface="Times New Roman" panose="02020603050405020304" pitchFamily="18" charset="0"/>
                          <a:cs typeface="Times New Roman" panose="02020603050405020304" pitchFamily="18" charset="0"/>
                        </a:rPr>
                        <a:t>It provides calibrated output through a single digital pin.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latin typeface="Times New Roman" panose="02020603050405020304" pitchFamily="18" charset="0"/>
                          <a:cs typeface="Times New Roman" panose="02020603050405020304" pitchFamily="18" charset="0"/>
                        </a:rPr>
                        <a:t>It operates within a temperature range of 0°C to 50°C and humidity range of 20% to 90%.</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latin typeface="Times New Roman" panose="02020603050405020304" pitchFamily="18" charset="0"/>
                          <a:cs typeface="Times New Roman" panose="02020603050405020304" pitchFamily="18" charset="0"/>
                        </a:rPr>
                        <a:t>It requires a 3.5V to 5.5V power supply for proper operation.</a:t>
                      </a:r>
                    </a:p>
                  </a:txBody>
                  <a:tcPr/>
                </a:tc>
                <a:extLst>
                  <a:ext uri="{0D108BD9-81ED-4DB2-BD59-A6C34878D82A}">
                    <a16:rowId xmlns:a16="http://schemas.microsoft.com/office/drawing/2014/main" val="3821619189"/>
                  </a:ext>
                </a:extLst>
              </a:tr>
            </a:tbl>
          </a:graphicData>
        </a:graphic>
      </p:graphicFrame>
      <p:grpSp>
        <p:nvGrpSpPr>
          <p:cNvPr id="7" name="Group 6">
            <a:extLst>
              <a:ext uri="{FF2B5EF4-FFF2-40B4-BE49-F238E27FC236}">
                <a16:creationId xmlns:a16="http://schemas.microsoft.com/office/drawing/2014/main" id="{607ED01F-00CA-37E7-12FA-F3FEF847A588}"/>
              </a:ext>
            </a:extLst>
          </p:cNvPr>
          <p:cNvGrpSpPr/>
          <p:nvPr/>
        </p:nvGrpSpPr>
        <p:grpSpPr>
          <a:xfrm>
            <a:off x="812800" y="906521"/>
            <a:ext cx="5201920" cy="3116839"/>
            <a:chOff x="-4571" y="-3048"/>
            <a:chExt cx="5840983" cy="2935224"/>
          </a:xfrm>
        </p:grpSpPr>
        <p:pic>
          <p:nvPicPr>
            <p:cNvPr id="8" name="Picture 7">
              <a:extLst>
                <a:ext uri="{FF2B5EF4-FFF2-40B4-BE49-F238E27FC236}">
                  <a16:creationId xmlns:a16="http://schemas.microsoft.com/office/drawing/2014/main" id="{A93BC7D8-8C38-933A-553C-33B0CA74DF2B}"/>
                </a:ext>
              </a:extLst>
            </p:cNvPr>
            <p:cNvPicPr/>
            <p:nvPr/>
          </p:nvPicPr>
          <p:blipFill>
            <a:blip r:embed="rId2"/>
            <a:stretch>
              <a:fillRect/>
            </a:stretch>
          </p:blipFill>
          <p:spPr>
            <a:xfrm>
              <a:off x="-4571" y="-3048"/>
              <a:ext cx="1801368" cy="2935224"/>
            </a:xfrm>
            <a:prstGeom prst="rect">
              <a:avLst/>
            </a:prstGeom>
          </p:spPr>
        </p:pic>
        <p:pic>
          <p:nvPicPr>
            <p:cNvPr id="10" name="Picture 9">
              <a:extLst>
                <a:ext uri="{FF2B5EF4-FFF2-40B4-BE49-F238E27FC236}">
                  <a16:creationId xmlns:a16="http://schemas.microsoft.com/office/drawing/2014/main" id="{C15D6E40-A9A7-79D5-07B9-8AF223461707}"/>
                </a:ext>
              </a:extLst>
            </p:cNvPr>
            <p:cNvPicPr/>
            <p:nvPr/>
          </p:nvPicPr>
          <p:blipFill>
            <a:blip r:embed="rId3"/>
            <a:stretch>
              <a:fillRect/>
            </a:stretch>
          </p:blipFill>
          <p:spPr>
            <a:xfrm>
              <a:off x="1795780" y="-3048"/>
              <a:ext cx="2734056" cy="2935224"/>
            </a:xfrm>
            <a:prstGeom prst="rect">
              <a:avLst/>
            </a:prstGeom>
          </p:spPr>
        </p:pic>
        <p:pic>
          <p:nvPicPr>
            <p:cNvPr id="11" name="Picture 10">
              <a:extLst>
                <a:ext uri="{FF2B5EF4-FFF2-40B4-BE49-F238E27FC236}">
                  <a16:creationId xmlns:a16="http://schemas.microsoft.com/office/drawing/2014/main" id="{1937A363-7F86-4F66-F7BF-B76C5A2A0A73}"/>
                </a:ext>
              </a:extLst>
            </p:cNvPr>
            <p:cNvPicPr/>
            <p:nvPr/>
          </p:nvPicPr>
          <p:blipFill>
            <a:blip r:embed="rId4"/>
            <a:stretch>
              <a:fillRect/>
            </a:stretch>
          </p:blipFill>
          <p:spPr>
            <a:xfrm>
              <a:off x="4528820" y="-3048"/>
              <a:ext cx="1307592" cy="2935224"/>
            </a:xfrm>
            <a:prstGeom prst="rect">
              <a:avLst/>
            </a:prstGeom>
          </p:spPr>
        </p:pic>
      </p:grpSp>
      <p:grpSp>
        <p:nvGrpSpPr>
          <p:cNvPr id="15" name="Group 14">
            <a:extLst>
              <a:ext uri="{FF2B5EF4-FFF2-40B4-BE49-F238E27FC236}">
                <a16:creationId xmlns:a16="http://schemas.microsoft.com/office/drawing/2014/main" id="{7F746372-64B0-004D-B265-FC69851659BE}"/>
              </a:ext>
            </a:extLst>
          </p:cNvPr>
          <p:cNvGrpSpPr/>
          <p:nvPr/>
        </p:nvGrpSpPr>
        <p:grpSpPr>
          <a:xfrm>
            <a:off x="1823610" y="4572001"/>
            <a:ext cx="2585830" cy="1759238"/>
            <a:chOff x="-3555" y="-2033"/>
            <a:chExt cx="2597911" cy="1883664"/>
          </a:xfrm>
        </p:grpSpPr>
        <p:pic>
          <p:nvPicPr>
            <p:cNvPr id="16" name="Picture 15">
              <a:extLst>
                <a:ext uri="{FF2B5EF4-FFF2-40B4-BE49-F238E27FC236}">
                  <a16:creationId xmlns:a16="http://schemas.microsoft.com/office/drawing/2014/main" id="{34D921F8-E1CE-57F7-7941-862624080D9E}"/>
                </a:ext>
              </a:extLst>
            </p:cNvPr>
            <p:cNvPicPr/>
            <p:nvPr/>
          </p:nvPicPr>
          <p:blipFill>
            <a:blip r:embed="rId5"/>
            <a:stretch>
              <a:fillRect/>
            </a:stretch>
          </p:blipFill>
          <p:spPr>
            <a:xfrm>
              <a:off x="-3555" y="-2033"/>
              <a:ext cx="484632" cy="1883664"/>
            </a:xfrm>
            <a:prstGeom prst="rect">
              <a:avLst/>
            </a:prstGeom>
          </p:spPr>
        </p:pic>
        <p:pic>
          <p:nvPicPr>
            <p:cNvPr id="17" name="Picture 16">
              <a:extLst>
                <a:ext uri="{FF2B5EF4-FFF2-40B4-BE49-F238E27FC236}">
                  <a16:creationId xmlns:a16="http://schemas.microsoft.com/office/drawing/2014/main" id="{460ADD63-42E6-3D69-AECF-83C346DBA9C9}"/>
                </a:ext>
              </a:extLst>
            </p:cNvPr>
            <p:cNvPicPr/>
            <p:nvPr/>
          </p:nvPicPr>
          <p:blipFill>
            <a:blip r:embed="rId6"/>
            <a:stretch>
              <a:fillRect/>
            </a:stretch>
          </p:blipFill>
          <p:spPr>
            <a:xfrm>
              <a:off x="479044" y="-2033"/>
              <a:ext cx="2115312" cy="1883664"/>
            </a:xfrm>
            <a:prstGeom prst="rect">
              <a:avLst/>
            </a:prstGeom>
          </p:spPr>
        </p:pic>
      </p:grpSp>
    </p:spTree>
    <p:extLst>
      <p:ext uri="{BB962C8B-B14F-4D97-AF65-F5344CB8AC3E}">
        <p14:creationId xmlns:p14="http://schemas.microsoft.com/office/powerpoint/2010/main" val="3157875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1986385-B0EA-F9B9-90BD-ABE713DA9F6D}"/>
              </a:ext>
            </a:extLst>
          </p:cNvPr>
          <p:cNvSpPr txBox="1">
            <a:spLocks/>
          </p:cNvSpPr>
          <p:nvPr/>
        </p:nvSpPr>
        <p:spPr>
          <a:xfrm>
            <a:off x="1507918" y="3994140"/>
            <a:ext cx="9956800" cy="543878"/>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defTabSz="914400"/>
            <a:endParaRPr lang="en-IN" sz="2800" b="1" dirty="0">
              <a:solidFill>
                <a:srgbClr val="FF0000"/>
              </a:solidFill>
            </a:endParaRPr>
          </a:p>
        </p:txBody>
      </p:sp>
      <p:graphicFrame>
        <p:nvGraphicFramePr>
          <p:cNvPr id="5" name="Table 4">
            <a:extLst>
              <a:ext uri="{FF2B5EF4-FFF2-40B4-BE49-F238E27FC236}">
                <a16:creationId xmlns:a16="http://schemas.microsoft.com/office/drawing/2014/main" id="{94352E93-6DD8-53FB-DB55-DEFF0D93063E}"/>
              </a:ext>
            </a:extLst>
          </p:cNvPr>
          <p:cNvGraphicFramePr>
            <a:graphicFrameLocks noGrp="1"/>
          </p:cNvGraphicFramePr>
          <p:nvPr>
            <p:extLst>
              <p:ext uri="{D42A27DB-BD31-4B8C-83A1-F6EECF244321}">
                <p14:modId xmlns:p14="http://schemas.microsoft.com/office/powerpoint/2010/main" val="2500050206"/>
              </p:ext>
            </p:extLst>
          </p:nvPr>
        </p:nvGraphicFramePr>
        <p:xfrm>
          <a:off x="701040" y="548640"/>
          <a:ext cx="10763678" cy="5825066"/>
        </p:xfrm>
        <a:graphic>
          <a:graphicData uri="http://schemas.openxmlformats.org/drawingml/2006/table">
            <a:tbl>
              <a:tblPr firstRow="1" bandRow="1">
                <a:tableStyleId>{5940675A-B579-460E-94D1-54222C63F5DA}</a:tableStyleId>
              </a:tblPr>
              <a:tblGrid>
                <a:gridCol w="5386919">
                  <a:extLst>
                    <a:ext uri="{9D8B030D-6E8A-4147-A177-3AD203B41FA5}">
                      <a16:colId xmlns:a16="http://schemas.microsoft.com/office/drawing/2014/main" val="4188510441"/>
                    </a:ext>
                  </a:extLst>
                </a:gridCol>
                <a:gridCol w="5376759">
                  <a:extLst>
                    <a:ext uri="{9D8B030D-6E8A-4147-A177-3AD203B41FA5}">
                      <a16:colId xmlns:a16="http://schemas.microsoft.com/office/drawing/2014/main" val="888432076"/>
                    </a:ext>
                  </a:extLst>
                </a:gridCol>
              </a:tblGrid>
              <a:tr h="1906693">
                <a:tc>
                  <a:txBody>
                    <a:bodyPr/>
                    <a:lstStyle/>
                    <a:p>
                      <a:pPr algn="l"/>
                      <a:r>
                        <a:rPr lang="en-IN" sz="2000" b="1" dirty="0">
                          <a:solidFill>
                            <a:srgbClr val="FF0000"/>
                          </a:solidFill>
                          <a:latin typeface="Times New Roman" panose="02020603050405020304" pitchFamily="18" charset="0"/>
                          <a:cs typeface="Times New Roman" panose="02020603050405020304" pitchFamily="18" charset="0"/>
                        </a:rPr>
                        <a:t>LDR MODULE:                 RELAY MODULE:</a:t>
                      </a:r>
                    </a:p>
                  </a:txBody>
                  <a:tcPr/>
                </a:tc>
                <a:tc>
                  <a:txBody>
                    <a:bodyPr/>
                    <a:lstStyle/>
                    <a:p>
                      <a:pPr marL="342900" indent="-342900">
                        <a:buAutoNum type="arabicPeriod"/>
                      </a:pPr>
                      <a:r>
                        <a:rPr lang="en-US" dirty="0">
                          <a:latin typeface="Times New Roman" panose="02020603050405020304" pitchFamily="18" charset="0"/>
                          <a:cs typeface="Times New Roman" panose="02020603050405020304" pitchFamily="18" charset="0"/>
                        </a:rPr>
                        <a:t>LDR (Light Dependent Resistor) module detects light intensity based on resistance changes.</a:t>
                      </a:r>
                    </a:p>
                    <a:p>
                      <a:pPr marL="342900" indent="-342900">
                        <a:buAutoNum type="arabicPeriod"/>
                      </a:pPr>
                      <a:r>
                        <a:rPr lang="en-US" dirty="0">
                          <a:latin typeface="Times New Roman" panose="02020603050405020304" pitchFamily="18" charset="0"/>
                          <a:cs typeface="Times New Roman" panose="02020603050405020304" pitchFamily="18" charset="0"/>
                        </a:rPr>
                        <a:t>It is commonly used in automatic lighting and smart greenhouse systems.</a:t>
                      </a:r>
                    </a:p>
                    <a:p>
                      <a:pPr marL="342900" indent="-342900">
                        <a:buAutoNum type="arabicPeriod"/>
                      </a:pPr>
                      <a:r>
                        <a:rPr lang="en-US" dirty="0">
                          <a:latin typeface="Times New Roman" panose="02020603050405020304" pitchFamily="18" charset="0"/>
                          <a:cs typeface="Times New Roman" panose="02020603050405020304" pitchFamily="18" charset="0"/>
                        </a:rPr>
                        <a:t>A </a:t>
                      </a:r>
                      <a:r>
                        <a:rPr lang="en-US" b="0" dirty="0">
                          <a:latin typeface="Times New Roman" panose="02020603050405020304" pitchFamily="18" charset="0"/>
                          <a:cs typeface="Times New Roman" panose="02020603050405020304" pitchFamily="18" charset="0"/>
                        </a:rPr>
                        <a:t>relay module </a:t>
                      </a:r>
                      <a:r>
                        <a:rPr lang="en-US" dirty="0">
                          <a:latin typeface="Times New Roman" panose="02020603050405020304" pitchFamily="18" charset="0"/>
                          <a:cs typeface="Times New Roman" panose="02020603050405020304" pitchFamily="18" charset="0"/>
                        </a:rPr>
                        <a:t>acts as a switch that allows a microcontroller to control high-voltage devices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921125"/>
                  </a:ext>
                </a:extLst>
              </a:tr>
              <a:tr h="1906693">
                <a:tc>
                  <a:txBody>
                    <a:bodyPr/>
                    <a:lstStyle/>
                    <a:p>
                      <a:pPr algn="ctr"/>
                      <a:r>
                        <a:rPr lang="en-IN" sz="2000" b="1" dirty="0">
                          <a:solidFill>
                            <a:srgbClr val="FF0000"/>
                          </a:solidFill>
                          <a:latin typeface="Times New Roman" panose="02020603050405020304" pitchFamily="18" charset="0"/>
                          <a:cs typeface="Times New Roman" panose="02020603050405020304" pitchFamily="18" charset="0"/>
                        </a:rPr>
                        <a:t>SOIL MOISTURE SENSOR:</a:t>
                      </a:r>
                    </a:p>
                  </a:txBody>
                  <a:tcPr/>
                </a:tc>
                <a:tc>
                  <a:txBody>
                    <a:bodyPr/>
                    <a:lstStyle/>
                    <a:p>
                      <a:pPr marL="342900" indent="-342900">
                        <a:buAutoNum type="arabicPeriod"/>
                      </a:pPr>
                      <a:r>
                        <a:rPr lang="en-US" dirty="0">
                          <a:latin typeface="Times New Roman" panose="02020603050405020304" pitchFamily="18" charset="0"/>
                          <a:cs typeface="Times New Roman" panose="02020603050405020304" pitchFamily="18" charset="0"/>
                        </a:rPr>
                        <a:t>A soil moisture sensor measures the water content in the soil.</a:t>
                      </a:r>
                    </a:p>
                    <a:p>
                      <a:pPr marL="342900" indent="-342900">
                        <a:buAutoNum type="arabicPeriod"/>
                      </a:pPr>
                      <a:r>
                        <a:rPr lang="en-US" dirty="0">
                          <a:latin typeface="Times New Roman" panose="02020603050405020304" pitchFamily="18" charset="0"/>
                          <a:cs typeface="Times New Roman" panose="02020603050405020304" pitchFamily="18" charset="0"/>
                        </a:rPr>
                        <a:t>It outputs analog or digital signals based on moisture levels.</a:t>
                      </a:r>
                    </a:p>
                    <a:p>
                      <a:pPr marL="342900" indent="-342900">
                        <a:buAutoNum type="arabicPeriod"/>
                      </a:pPr>
                      <a:r>
                        <a:rPr lang="en-US" dirty="0">
                          <a:latin typeface="Times New Roman" panose="02020603050405020304" pitchFamily="18" charset="0"/>
                          <a:cs typeface="Times New Roman" panose="02020603050405020304" pitchFamily="18" charset="0"/>
                        </a:rPr>
                        <a:t>It helps automate irrigation in smart farming and greenhouse systems.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08357037"/>
                  </a:ext>
                </a:extLst>
              </a:tr>
              <a:tr h="1906693">
                <a:tc>
                  <a:txBody>
                    <a:bodyPr/>
                    <a:lstStyle/>
                    <a:p>
                      <a:pPr algn="l"/>
                      <a:r>
                        <a:rPr lang="en-IN" sz="2000" b="1" dirty="0">
                          <a:solidFill>
                            <a:srgbClr val="FF0000"/>
                          </a:solidFill>
                          <a:latin typeface="Times New Roman" panose="02020603050405020304" pitchFamily="18" charset="0"/>
                          <a:cs typeface="Times New Roman" panose="02020603050405020304" pitchFamily="18" charset="0"/>
                        </a:rPr>
                        <a:t>       WATER PUMP :               LIGHT:</a:t>
                      </a:r>
                    </a:p>
                    <a:p>
                      <a:pPr algn="l"/>
                      <a:endParaRPr lang="en-IN"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dirty="0">
                          <a:latin typeface="Times New Roman" panose="02020603050405020304" pitchFamily="18" charset="0"/>
                          <a:cs typeface="Times New Roman" panose="02020603050405020304" pitchFamily="18" charset="0"/>
                        </a:rPr>
                        <a:t>A water pump is used to move or circulate water in irrigation systems.</a:t>
                      </a:r>
                    </a:p>
                    <a:p>
                      <a:pPr marL="342900" indent="-342900">
                        <a:buAutoNum type="arabicPeriod"/>
                      </a:pPr>
                      <a:r>
                        <a:rPr lang="en-US" dirty="0">
                          <a:latin typeface="Times New Roman" panose="02020603050405020304" pitchFamily="18" charset="0"/>
                          <a:cs typeface="Times New Roman" panose="02020603050405020304" pitchFamily="18" charset="0"/>
                        </a:rPr>
                        <a:t>It can be controlled automatically using microcontrollers and relays in IoT projects.</a:t>
                      </a:r>
                    </a:p>
                    <a:p>
                      <a:pPr marL="342900" indent="-342900">
                        <a:buAutoNum type="arabicPeriod"/>
                      </a:pPr>
                      <a:r>
                        <a:rPr lang="en-US" dirty="0">
                          <a:latin typeface="Times New Roman" panose="02020603050405020304" pitchFamily="18" charset="0"/>
                          <a:cs typeface="Times New Roman" panose="02020603050405020304" pitchFamily="18" charset="0"/>
                        </a:rPr>
                        <a:t>A </a:t>
                      </a:r>
                      <a:r>
                        <a:rPr lang="en-US" b="0" dirty="0">
                          <a:latin typeface="Times New Roman" panose="02020603050405020304" pitchFamily="18" charset="0"/>
                          <a:cs typeface="Times New Roman" panose="02020603050405020304" pitchFamily="18" charset="0"/>
                        </a:rPr>
                        <a:t>light</a:t>
                      </a:r>
                      <a:r>
                        <a:rPr lang="en-US" dirty="0">
                          <a:latin typeface="Times New Roman" panose="02020603050405020304" pitchFamily="18" charset="0"/>
                          <a:cs typeface="Times New Roman" panose="02020603050405020304" pitchFamily="18" charset="0"/>
                        </a:rPr>
                        <a:t> in a smart greenhouse provides artificial illumination to support plant growth when natural light is insufficient.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7969188"/>
                  </a:ext>
                </a:extLst>
              </a:tr>
            </a:tbl>
          </a:graphicData>
        </a:graphic>
      </p:graphicFrame>
      <p:pic>
        <p:nvPicPr>
          <p:cNvPr id="6" name="Picture 5">
            <a:extLst>
              <a:ext uri="{FF2B5EF4-FFF2-40B4-BE49-F238E27FC236}">
                <a16:creationId xmlns:a16="http://schemas.microsoft.com/office/drawing/2014/main" id="{0A120AC8-BF40-135F-56EF-9B19C671885B}"/>
              </a:ext>
            </a:extLst>
          </p:cNvPr>
          <p:cNvPicPr/>
          <p:nvPr/>
        </p:nvPicPr>
        <p:blipFill>
          <a:blip r:embed="rId2"/>
          <a:srcRect l="9678" b="7029"/>
          <a:stretch>
            <a:fillRect/>
          </a:stretch>
        </p:blipFill>
        <p:spPr>
          <a:xfrm>
            <a:off x="923003" y="1016773"/>
            <a:ext cx="2074197" cy="1390587"/>
          </a:xfrm>
          <a:prstGeom prst="rect">
            <a:avLst/>
          </a:prstGeom>
        </p:spPr>
      </p:pic>
      <p:grpSp>
        <p:nvGrpSpPr>
          <p:cNvPr id="8" name="Group 7">
            <a:extLst>
              <a:ext uri="{FF2B5EF4-FFF2-40B4-BE49-F238E27FC236}">
                <a16:creationId xmlns:a16="http://schemas.microsoft.com/office/drawing/2014/main" id="{4052228E-9BCA-31C4-E46C-F6EE7B78D39E}"/>
              </a:ext>
            </a:extLst>
          </p:cNvPr>
          <p:cNvGrpSpPr/>
          <p:nvPr/>
        </p:nvGrpSpPr>
        <p:grpSpPr>
          <a:xfrm>
            <a:off x="1788160" y="2875492"/>
            <a:ext cx="3497092" cy="1390587"/>
            <a:chOff x="-4571" y="-4064"/>
            <a:chExt cx="3326383" cy="2060448"/>
          </a:xfrm>
        </p:grpSpPr>
        <p:pic>
          <p:nvPicPr>
            <p:cNvPr id="9" name="Picture 8">
              <a:extLst>
                <a:ext uri="{FF2B5EF4-FFF2-40B4-BE49-F238E27FC236}">
                  <a16:creationId xmlns:a16="http://schemas.microsoft.com/office/drawing/2014/main" id="{C8FAD89D-E4E6-DA87-04EC-D04769F0B7C9}"/>
                </a:ext>
              </a:extLst>
            </p:cNvPr>
            <p:cNvPicPr/>
            <p:nvPr/>
          </p:nvPicPr>
          <p:blipFill>
            <a:blip r:embed="rId3"/>
            <a:stretch>
              <a:fillRect/>
            </a:stretch>
          </p:blipFill>
          <p:spPr>
            <a:xfrm>
              <a:off x="-4571" y="-4064"/>
              <a:ext cx="505968" cy="2060448"/>
            </a:xfrm>
            <a:prstGeom prst="rect">
              <a:avLst/>
            </a:prstGeom>
          </p:spPr>
        </p:pic>
        <p:pic>
          <p:nvPicPr>
            <p:cNvPr id="10" name="Picture 9">
              <a:extLst>
                <a:ext uri="{FF2B5EF4-FFF2-40B4-BE49-F238E27FC236}">
                  <a16:creationId xmlns:a16="http://schemas.microsoft.com/office/drawing/2014/main" id="{D49732BB-EAC3-5316-55B9-6FE996986FA5}"/>
                </a:ext>
              </a:extLst>
            </p:cNvPr>
            <p:cNvPicPr/>
            <p:nvPr/>
          </p:nvPicPr>
          <p:blipFill>
            <a:blip r:embed="rId4"/>
            <a:stretch>
              <a:fillRect/>
            </a:stretch>
          </p:blipFill>
          <p:spPr>
            <a:xfrm>
              <a:off x="500380" y="-4064"/>
              <a:ext cx="2734056" cy="2060448"/>
            </a:xfrm>
            <a:prstGeom prst="rect">
              <a:avLst/>
            </a:prstGeom>
          </p:spPr>
        </p:pic>
        <p:pic>
          <p:nvPicPr>
            <p:cNvPr id="11" name="Picture 10">
              <a:extLst>
                <a:ext uri="{FF2B5EF4-FFF2-40B4-BE49-F238E27FC236}">
                  <a16:creationId xmlns:a16="http://schemas.microsoft.com/office/drawing/2014/main" id="{312D2BCD-E4A2-AC5A-286B-473D3AE406A7}"/>
                </a:ext>
              </a:extLst>
            </p:cNvPr>
            <p:cNvPicPr/>
            <p:nvPr/>
          </p:nvPicPr>
          <p:blipFill>
            <a:blip r:embed="rId5"/>
            <a:stretch>
              <a:fillRect/>
            </a:stretch>
          </p:blipFill>
          <p:spPr>
            <a:xfrm>
              <a:off x="3233420" y="-4064"/>
              <a:ext cx="88392" cy="2060448"/>
            </a:xfrm>
            <a:prstGeom prst="rect">
              <a:avLst/>
            </a:prstGeom>
          </p:spPr>
        </p:pic>
      </p:grpSp>
      <p:pic>
        <p:nvPicPr>
          <p:cNvPr id="13" name="Picture 12">
            <a:extLst>
              <a:ext uri="{FF2B5EF4-FFF2-40B4-BE49-F238E27FC236}">
                <a16:creationId xmlns:a16="http://schemas.microsoft.com/office/drawing/2014/main" id="{3D12F244-6EE4-CF4B-7629-AD7DC13D58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5652" y="4787082"/>
            <a:ext cx="1971548" cy="1522278"/>
          </a:xfrm>
          <a:prstGeom prst="rect">
            <a:avLst/>
          </a:prstGeom>
        </p:spPr>
      </p:pic>
      <p:pic>
        <p:nvPicPr>
          <p:cNvPr id="15" name="Picture 14">
            <a:extLst>
              <a:ext uri="{FF2B5EF4-FFF2-40B4-BE49-F238E27FC236}">
                <a16:creationId xmlns:a16="http://schemas.microsoft.com/office/drawing/2014/main" id="{35931692-77A7-592E-3788-2E4A3C6111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3724" y="4662219"/>
            <a:ext cx="1971548" cy="1522278"/>
          </a:xfrm>
          <a:prstGeom prst="rect">
            <a:avLst/>
          </a:prstGeom>
        </p:spPr>
      </p:pic>
      <p:pic>
        <p:nvPicPr>
          <p:cNvPr id="17" name="Picture 16">
            <a:extLst>
              <a:ext uri="{FF2B5EF4-FFF2-40B4-BE49-F238E27FC236}">
                <a16:creationId xmlns:a16="http://schemas.microsoft.com/office/drawing/2014/main" id="{79EF4C9E-3BC6-695E-4CF5-6AACBAD4C0F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83724" y="889053"/>
            <a:ext cx="1909788" cy="1518307"/>
          </a:xfrm>
          <a:prstGeom prst="rect">
            <a:avLst/>
          </a:prstGeom>
        </p:spPr>
      </p:pic>
    </p:spTree>
    <p:extLst>
      <p:ext uri="{BB962C8B-B14F-4D97-AF65-F5344CB8AC3E}">
        <p14:creationId xmlns:p14="http://schemas.microsoft.com/office/powerpoint/2010/main" val="637055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29277-2E4E-6A27-FA35-4D3A90762CCF}"/>
              </a:ext>
            </a:extLst>
          </p:cNvPr>
          <p:cNvSpPr>
            <a:spLocks noGrp="1"/>
          </p:cNvSpPr>
          <p:nvPr>
            <p:ph type="title"/>
          </p:nvPr>
        </p:nvSpPr>
        <p:spPr>
          <a:xfrm>
            <a:off x="609600" y="384048"/>
            <a:ext cx="8030547" cy="623658"/>
          </a:xfrm>
        </p:spPr>
        <p:txBody>
          <a:bodyPr>
            <a:normAutofit fontScale="90000"/>
          </a:bodyPr>
          <a:lstStyle/>
          <a:p>
            <a:pPr algn="ctr"/>
            <a:r>
              <a:rPr lang="en-US" b="1" dirty="0">
                <a:solidFill>
                  <a:srgbClr val="FF0000"/>
                </a:solidFill>
              </a:rPr>
              <a:t>        </a:t>
            </a:r>
            <a:r>
              <a:rPr lang="en-US" sz="3600" b="1" dirty="0">
                <a:solidFill>
                  <a:srgbClr val="FF0000"/>
                </a:solidFill>
                <a:latin typeface="Times New Roman" panose="02020603050405020304" pitchFamily="18" charset="0"/>
                <a:cs typeface="Times New Roman" panose="02020603050405020304" pitchFamily="18" charset="0"/>
              </a:rPr>
              <a:t>Advantages:</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C327FE9-AC27-6B2B-7F41-059AFC96D7D5}"/>
              </a:ext>
            </a:extLst>
          </p:cNvPr>
          <p:cNvSpPr>
            <a:spLocks noChangeArrowheads="1"/>
          </p:cNvSpPr>
          <p:nvPr/>
        </p:nvSpPr>
        <p:spPr bwMode="auto">
          <a:xfrm>
            <a:off x="1029302" y="910481"/>
            <a:ext cx="430485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dirty="0"/>
              <a:t> </a:t>
            </a:r>
            <a:r>
              <a:rPr lang="en-IN" dirty="0">
                <a:latin typeface="Times New Roman" panose="02020603050405020304" pitchFamily="18" charset="0"/>
                <a:cs typeface="Times New Roman" panose="02020603050405020304" pitchFamily="18" charset="0"/>
              </a:rPr>
              <a:t>Real-Time Monitoring and Alerts</a:t>
            </a:r>
          </a:p>
          <a:p>
            <a:pPr lvl="0">
              <a:buFont typeface="Wingdings" pitchFamily="2" charset="2"/>
              <a:buChar char="Ø"/>
            </a:pPr>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Automated Environmental Control</a:t>
            </a:r>
          </a:p>
          <a:p>
            <a:pPr lvl="0">
              <a:buFont typeface="Wingdings" pitchFamily="2" charset="2"/>
              <a:buChar char="Ø"/>
            </a:pPr>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Dual Control Modes</a:t>
            </a:r>
          </a:p>
          <a:p>
            <a:pPr lvl="0">
              <a:buFont typeface="Wingdings" pitchFamily="2" charset="2"/>
              <a:buChar char="Ø"/>
            </a:pPr>
            <a:endParaRPr lang="en-US" dirty="0">
              <a:latin typeface="Times New Roman" panose="02020603050405020304" pitchFamily="18" charset="0"/>
              <a:cs typeface="Times New Roman" panose="02020603050405020304" pitchFamily="18" charset="0"/>
            </a:endParaRPr>
          </a:p>
          <a:p>
            <a:pPr lvl="0">
              <a:buFont typeface="Wingdings" pitchFamily="2" charset="2"/>
              <a:buChar char="Ø"/>
            </a:pPr>
            <a:r>
              <a:rPr lang="en-IN" dirty="0">
                <a:latin typeface="Times New Roman" panose="02020603050405020304" pitchFamily="18" charset="0"/>
                <a:cs typeface="Times New Roman" panose="02020603050405020304" pitchFamily="18" charset="0"/>
              </a:rPr>
              <a:t> Energy and Resource Efficiency</a:t>
            </a:r>
            <a:endParaRPr lang="en-US" dirty="0">
              <a:latin typeface="Times New Roman" panose="02020603050405020304" pitchFamily="18" charset="0"/>
              <a:cs typeface="Times New Roman" panose="02020603050405020304" pitchFamily="18" charset="0"/>
            </a:endParaRPr>
          </a:p>
          <a:p>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8B7AAB3E-A803-3393-68B4-AF39692344BE}"/>
              </a:ext>
            </a:extLst>
          </p:cNvPr>
          <p:cNvSpPr txBox="1"/>
          <p:nvPr/>
        </p:nvSpPr>
        <p:spPr>
          <a:xfrm>
            <a:off x="3744784" y="3136612"/>
            <a:ext cx="5088511"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Disadvantages :</a:t>
            </a:r>
          </a:p>
        </p:txBody>
      </p:sp>
      <p:sp>
        <p:nvSpPr>
          <p:cNvPr id="8" name="TextBox 7">
            <a:extLst>
              <a:ext uri="{FF2B5EF4-FFF2-40B4-BE49-F238E27FC236}">
                <a16:creationId xmlns:a16="http://schemas.microsoft.com/office/drawing/2014/main" id="{EB668800-ADF4-8C90-8FE0-44956C625861}"/>
              </a:ext>
            </a:extLst>
          </p:cNvPr>
          <p:cNvSpPr txBox="1"/>
          <p:nvPr/>
        </p:nvSpPr>
        <p:spPr>
          <a:xfrm>
            <a:off x="609600" y="3916194"/>
            <a:ext cx="5842000" cy="2031325"/>
          </a:xfrm>
          <a:prstGeom prst="rect">
            <a:avLst/>
          </a:prstGeom>
          <a:noFill/>
        </p:spPr>
        <p:txBody>
          <a:bodyPr wrap="square" rtlCol="0">
            <a:spAutoFit/>
          </a:bodyPr>
          <a:lstStyle/>
          <a:p>
            <a:pPr lvl="1" fontAlgn="base">
              <a:buClr>
                <a:schemeClr val="tx1">
                  <a:lumMod val="85000"/>
                  <a:lumOff val="15000"/>
                </a:schemeClr>
              </a:buClr>
              <a:buFont typeface="Wingdings" panose="05000000000000000000" pitchFamily="2" charset="2"/>
              <a:buChar char="Ø"/>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Internet Dependency </a:t>
            </a:r>
          </a:p>
          <a:p>
            <a:pPr lvl="1" fontAlgn="base">
              <a:buClr>
                <a:schemeClr val="tx1">
                  <a:lumMod val="85000"/>
                  <a:lumOff val="15000"/>
                </a:schemeClr>
              </a:buClr>
              <a:buFont typeface="Wingdings" panose="05000000000000000000" pitchFamily="2" charset="2"/>
              <a:buChar char="Ø"/>
            </a:pP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lvl="1" fontAlgn="base">
              <a:buClr>
                <a:schemeClr val="tx1">
                  <a:lumMod val="85000"/>
                  <a:lumOff val="15000"/>
                </a:schemeClr>
              </a:buClr>
              <a:buFont typeface="Wingdings" panose="05000000000000000000" pitchFamily="2" charset="2"/>
              <a:buChar char="Ø"/>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Limited Sensor Accuracy </a:t>
            </a:r>
          </a:p>
          <a:p>
            <a:pPr lvl="1" fontAlgn="base">
              <a:buClr>
                <a:schemeClr val="tx1">
                  <a:lumMod val="85000"/>
                  <a:lumOff val="15000"/>
                </a:schemeClr>
              </a:buClr>
              <a:buFont typeface="Wingdings" panose="05000000000000000000" pitchFamily="2" charset="2"/>
              <a:buChar char="Ø"/>
            </a:pP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lvl="1" fontAlgn="base">
              <a:buClr>
                <a:schemeClr val="tx1">
                  <a:lumMod val="85000"/>
                  <a:lumOff val="15000"/>
                </a:schemeClr>
              </a:buClr>
              <a:buFont typeface="Wingdings" panose="05000000000000000000" pitchFamily="2" charset="2"/>
              <a:buChar char="Ø"/>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Initial Setup Complexity </a:t>
            </a:r>
          </a:p>
          <a:p>
            <a:pPr lvl="1" fontAlgn="base">
              <a:buClr>
                <a:schemeClr val="tx1">
                  <a:lumMod val="85000"/>
                  <a:lumOff val="15000"/>
                </a:schemeClr>
              </a:buClr>
              <a:buFont typeface="Wingdings" panose="05000000000000000000" pitchFamily="2" charset="2"/>
              <a:buChar char="Ø"/>
            </a:pP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lvl="1" fontAlgn="base">
              <a:buClr>
                <a:schemeClr val="tx1">
                  <a:lumMod val="85000"/>
                  <a:lumOff val="15000"/>
                </a:schemeClr>
              </a:buClr>
              <a:buFont typeface="Wingdings" panose="05000000000000000000" pitchFamily="2" charset="2"/>
              <a:buChar char="Ø"/>
            </a:pPr>
            <a:r>
              <a:rPr lang="en-IN" dirty="0">
                <a:solidFill>
                  <a:schemeClr val="tx1">
                    <a:lumMod val="85000"/>
                    <a:lumOff val="15000"/>
                  </a:schemeClr>
                </a:solidFill>
                <a:latin typeface="Times New Roman" panose="02020603050405020304" pitchFamily="18" charset="0"/>
                <a:cs typeface="Times New Roman" panose="02020603050405020304" pitchFamily="18" charset="0"/>
              </a:rPr>
              <a:t>Maintenance and Calibration Needs </a:t>
            </a:r>
          </a:p>
        </p:txBody>
      </p:sp>
    </p:spTree>
    <p:extLst>
      <p:ext uri="{BB962C8B-B14F-4D97-AF65-F5344CB8AC3E}">
        <p14:creationId xmlns:p14="http://schemas.microsoft.com/office/powerpoint/2010/main" val="1376333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35894F-4D71-9CFF-8288-E88F86AC1CF3}"/>
              </a:ext>
            </a:extLst>
          </p:cNvPr>
          <p:cNvSpPr>
            <a:spLocks noGrp="1"/>
          </p:cNvSpPr>
          <p:nvPr>
            <p:ph type="sldNum" sz="quarter" idx="12"/>
          </p:nvPr>
        </p:nvSpPr>
        <p:spPr/>
        <p:txBody>
          <a:bodyPr/>
          <a:lstStyle/>
          <a:p>
            <a:fld id="{E3D1FF4C-2068-4BA9-9B4D-17B36DE2EA0F}" type="slidenum">
              <a:rPr lang="en-IN" smtClean="0"/>
              <a:pPr/>
              <a:t>12</a:t>
            </a:fld>
            <a:endParaRPr lang="en-IN" dirty="0"/>
          </a:p>
        </p:txBody>
      </p:sp>
      <p:sp>
        <p:nvSpPr>
          <p:cNvPr id="6" name="TextBox 5">
            <a:extLst>
              <a:ext uri="{FF2B5EF4-FFF2-40B4-BE49-F238E27FC236}">
                <a16:creationId xmlns:a16="http://schemas.microsoft.com/office/drawing/2014/main" id="{F1C77A65-BCD4-9B0E-0A7C-27221C703CFA}"/>
              </a:ext>
            </a:extLst>
          </p:cNvPr>
          <p:cNvSpPr txBox="1"/>
          <p:nvPr/>
        </p:nvSpPr>
        <p:spPr>
          <a:xfrm>
            <a:off x="3638938" y="451513"/>
            <a:ext cx="4534678" cy="584775"/>
          </a:xfrm>
          <a:prstGeom prst="rect">
            <a:avLst/>
          </a:prstGeom>
          <a:noFill/>
        </p:spPr>
        <p:txBody>
          <a:bodyPr wrap="square">
            <a:spAutoFit/>
          </a:bodyPr>
          <a:lstStyle/>
          <a:p>
            <a:r>
              <a:rPr lang="en-US" sz="3200" b="1" dirty="0">
                <a:solidFill>
                  <a:srgbClr val="FF0000"/>
                </a:solidFill>
                <a:latin typeface="Times New Roman" panose="02020603050405020304" pitchFamily="18" charset="0"/>
                <a:cs typeface="Times New Roman" panose="02020603050405020304" pitchFamily="18" charset="0"/>
              </a:rPr>
              <a:t>Applications:</a:t>
            </a:r>
            <a:endParaRPr lang="en-IN"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4BDB468-00B3-0C09-1A07-ABB29CA3C398}"/>
              </a:ext>
            </a:extLst>
          </p:cNvPr>
          <p:cNvSpPr txBox="1"/>
          <p:nvPr/>
        </p:nvSpPr>
        <p:spPr>
          <a:xfrm>
            <a:off x="475861" y="1171508"/>
            <a:ext cx="8677469" cy="5078313"/>
          </a:xfrm>
          <a:prstGeom prst="rect">
            <a:avLst/>
          </a:prstGeom>
          <a:noFill/>
        </p:spPr>
        <p:txBody>
          <a:bodyPr wrap="square">
            <a:spAutoFit/>
          </a:bodyPr>
          <a:lstStyle/>
          <a:p>
            <a:pPr marL="285750" lvl="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Real-Time Environmental Monitoring and Control.</a:t>
            </a:r>
          </a:p>
          <a:p>
            <a:pPr marL="285750" lvl="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Automated Smart Farming.</a:t>
            </a:r>
          </a:p>
          <a:p>
            <a:pPr marL="285750" lvl="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Dual-Mode Operation (Manual and Automatic Control).</a:t>
            </a:r>
          </a:p>
          <a:p>
            <a:pPr marL="285750" lvl="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Enhanced Resource Efficiency and Crop Yield.</a:t>
            </a:r>
          </a:p>
          <a:p>
            <a:pPr marL="285750" lvl="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Water Management</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Remote monitoring and control</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Increased crop yield and quality</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Energy efficiency</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p>
        </p:txBody>
      </p:sp>
      <p:pic>
        <p:nvPicPr>
          <p:cNvPr id="2" name="Content Placeholder 7" descr="A smart phone in a greenhouse&#10;&#10;AI-generated content may be incorrect.">
            <a:extLst>
              <a:ext uri="{FF2B5EF4-FFF2-40B4-BE49-F238E27FC236}">
                <a16:creationId xmlns:a16="http://schemas.microsoft.com/office/drawing/2014/main" id="{32630ED6-3A69-1F35-CE25-D5BD807FBE2D}"/>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6358630" y="1322206"/>
            <a:ext cx="5357509" cy="3949428"/>
          </a:xfrm>
          <a:prstGeom prst="rect">
            <a:avLst/>
          </a:prstGeom>
        </p:spPr>
      </p:pic>
    </p:spTree>
    <p:extLst>
      <p:ext uri="{BB962C8B-B14F-4D97-AF65-F5344CB8AC3E}">
        <p14:creationId xmlns:p14="http://schemas.microsoft.com/office/powerpoint/2010/main" val="3849475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01FC6-4477-4BBA-E57E-1445BD8C6B84}"/>
              </a:ext>
            </a:extLst>
          </p:cNvPr>
          <p:cNvSpPr>
            <a:spLocks noGrp="1"/>
          </p:cNvSpPr>
          <p:nvPr>
            <p:ph type="title"/>
          </p:nvPr>
        </p:nvSpPr>
        <p:spPr>
          <a:xfrm>
            <a:off x="320351" y="479801"/>
            <a:ext cx="9956800" cy="493078"/>
          </a:xfrm>
        </p:spPr>
        <p:txBody>
          <a:bodyPr>
            <a:no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Conclusion :</a:t>
            </a:r>
          </a:p>
        </p:txBody>
      </p:sp>
      <p:sp>
        <p:nvSpPr>
          <p:cNvPr id="3" name="Content Placeholder 2">
            <a:extLst>
              <a:ext uri="{FF2B5EF4-FFF2-40B4-BE49-F238E27FC236}">
                <a16:creationId xmlns:a16="http://schemas.microsoft.com/office/drawing/2014/main" id="{B7BBB7BA-D6F7-14EA-834F-343F8E28F763}"/>
              </a:ext>
            </a:extLst>
          </p:cNvPr>
          <p:cNvSpPr>
            <a:spLocks noGrp="1"/>
          </p:cNvSpPr>
          <p:nvPr>
            <p:ph idx="1"/>
          </p:nvPr>
        </p:nvSpPr>
        <p:spPr>
          <a:xfrm>
            <a:off x="609600" y="1239313"/>
            <a:ext cx="9878008" cy="2528596"/>
          </a:xfrm>
        </p:spPr>
        <p:txBody>
          <a:bodyPr>
            <a:normAutofit/>
          </a:bodyPr>
          <a:lstStyle/>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A smart greenhouse integrates sensors, actuators, and IoT technology to monitor and control environmental parameters like temperature, humidity, soil moisture, and light, ensuring optimal plant growth, efficient resource usage, and reduced manual intervention, making agriculture more sustainable and productive.</a:t>
            </a:r>
          </a:p>
          <a:p>
            <a:pPr marL="0" indent="0" algn="just">
              <a:buNone/>
            </a:pP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172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79DCD-E960-0FE0-52A8-0A1B390F22B6}"/>
              </a:ext>
            </a:extLst>
          </p:cNvPr>
          <p:cNvSpPr txBox="1"/>
          <p:nvPr/>
        </p:nvSpPr>
        <p:spPr>
          <a:xfrm>
            <a:off x="3918857" y="487137"/>
            <a:ext cx="2248678" cy="584775"/>
          </a:xfrm>
          <a:prstGeom prst="rect">
            <a:avLst/>
          </a:prstGeom>
          <a:noFill/>
        </p:spPr>
        <p:txBody>
          <a:bodyPr wrap="square">
            <a:spAutoFit/>
          </a:bodyPr>
          <a:lstStyle/>
          <a:p>
            <a:r>
              <a:rPr lang="en-IN" sz="3200" b="1" dirty="0">
                <a:solidFill>
                  <a:srgbClr val="FF0000"/>
                </a:solidFill>
                <a:latin typeface="Times New Roman" panose="02020603050405020304" pitchFamily="18" charset="0"/>
                <a:cs typeface="Times New Roman" panose="02020603050405020304" pitchFamily="18" charset="0"/>
              </a:rPr>
              <a:t>Reference:</a:t>
            </a:r>
            <a:endParaRPr lang="en-IN" sz="3200" dirty="0"/>
          </a:p>
        </p:txBody>
      </p:sp>
      <p:sp>
        <p:nvSpPr>
          <p:cNvPr id="4" name="TextBox 3">
            <a:extLst>
              <a:ext uri="{FF2B5EF4-FFF2-40B4-BE49-F238E27FC236}">
                <a16:creationId xmlns:a16="http://schemas.microsoft.com/office/drawing/2014/main" id="{D0601644-14C1-5748-EF30-BA07AD4685B1}"/>
              </a:ext>
            </a:extLst>
          </p:cNvPr>
          <p:cNvSpPr txBox="1"/>
          <p:nvPr/>
        </p:nvSpPr>
        <p:spPr>
          <a:xfrm>
            <a:off x="354563" y="1566284"/>
            <a:ext cx="11485984" cy="4247317"/>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Bhagyashree ,Pandurangi*1, Sachin G Teradal*2 , Next-generation iot-powered smart greenhouse </a:t>
            </a:r>
            <a:r>
              <a:rPr lang="en-US" dirty="0">
                <a:latin typeface="Times New Roman" panose="02020603050405020304" pitchFamily="18" charset="0"/>
                <a:cs typeface="Times New Roman" panose="02020603050405020304" pitchFamily="18" charset="0"/>
              </a:rPr>
              <a:t>International</a:t>
            </a:r>
          </a:p>
          <a:p>
            <a:pPr algn="just"/>
            <a:r>
              <a:rPr lang="en-US" dirty="0">
                <a:latin typeface="Times New Roman" panose="02020603050405020304" pitchFamily="18" charset="0"/>
                <a:cs typeface="Times New Roman" panose="02020603050405020304" pitchFamily="18" charset="0"/>
              </a:rPr>
              <a:t>      Research Journal of Modernization in Engineering Technology and Science Volume:07/Issue:06/June-2025 </a:t>
            </a:r>
          </a:p>
          <a:p>
            <a:r>
              <a:rPr lang="en-IN" dirty="0">
                <a:latin typeface="Times New Roman" panose="02020603050405020304" pitchFamily="18" charset="0"/>
                <a:cs typeface="Times New Roman" panose="02020603050405020304" pitchFamily="18" charset="0"/>
              </a:rPr>
              <a:t>      e-ISSN: 2582-5208</a:t>
            </a:r>
          </a:p>
          <a:p>
            <a:pPr algn="just"/>
            <a:r>
              <a:rPr lang="en-IN" dirty="0">
                <a:latin typeface="Times New Roman" panose="02020603050405020304" pitchFamily="18" charset="0"/>
                <a:cs typeface="Times New Roman" panose="02020603050405020304" pitchFamily="18" charset="0"/>
              </a:rPr>
              <a:t>[2] </a:t>
            </a:r>
            <a:r>
              <a:rPr lang="en-IN" dirty="0">
                <a:solidFill>
                  <a:schemeClr val="dk1"/>
                </a:solidFill>
                <a:latin typeface="Times New Roman" panose="02020603050405020304" pitchFamily="18" charset="0"/>
                <a:cs typeface="Times New Roman" panose="02020603050405020304" pitchFamily="18" charset="0"/>
              </a:rPr>
              <a:t>A.Simo,S. </a:t>
            </a:r>
            <a:r>
              <a:rPr lang="en-IN" dirty="0" err="1">
                <a:solidFill>
                  <a:schemeClr val="dk1"/>
                </a:solidFill>
                <a:latin typeface="Times New Roman" panose="02020603050405020304" pitchFamily="18" charset="0"/>
                <a:cs typeface="Times New Roman" panose="02020603050405020304" pitchFamily="18" charset="0"/>
              </a:rPr>
              <a:t>Dzitac,G</a:t>
            </a:r>
            <a:r>
              <a:rPr lang="en-IN" dirty="0">
                <a:solidFill>
                  <a:schemeClr val="dk1"/>
                </a:solidFill>
                <a:latin typeface="Times New Roman" panose="02020603050405020304" pitchFamily="18" charset="0"/>
                <a:cs typeface="Times New Roman" panose="02020603050405020304" pitchFamily="18" charset="0"/>
              </a:rPr>
              <a:t>. E. </a:t>
            </a:r>
            <a:r>
              <a:rPr lang="en-IN" dirty="0" err="1">
                <a:solidFill>
                  <a:schemeClr val="dk1"/>
                </a:solidFill>
                <a:latin typeface="Times New Roman" panose="02020603050405020304" pitchFamily="18" charset="0"/>
                <a:cs typeface="Times New Roman" panose="02020603050405020304" pitchFamily="18" charset="0"/>
              </a:rPr>
              <a:t>Badea,D</a:t>
            </a:r>
            <a:r>
              <a:rPr lang="en-IN" dirty="0">
                <a:solidFill>
                  <a:schemeClr val="dk1"/>
                </a:solidFill>
                <a:latin typeface="Times New Roman" panose="02020603050405020304" pitchFamily="18" charset="0"/>
                <a:cs typeface="Times New Roman" panose="02020603050405020304" pitchFamily="18" charset="0"/>
              </a:rPr>
              <a:t>. </a:t>
            </a:r>
            <a:r>
              <a:rPr lang="en-IN" dirty="0" err="1">
                <a:solidFill>
                  <a:schemeClr val="dk1"/>
                </a:solidFill>
                <a:latin typeface="Times New Roman" panose="02020603050405020304" pitchFamily="18" charset="0"/>
                <a:cs typeface="Times New Roman" panose="02020603050405020304" pitchFamily="18" charset="0"/>
              </a:rPr>
              <a:t>Meianu</a:t>
            </a:r>
            <a:r>
              <a:rPr lang="en-IN" dirty="0">
                <a:solidFill>
                  <a:schemeClr val="dk1"/>
                </a:solidFill>
                <a:latin typeface="Times New Roman" panose="02020603050405020304" pitchFamily="18" charset="0"/>
                <a:cs typeface="Times New Roman" panose="02020603050405020304" pitchFamily="18" charset="0"/>
              </a:rPr>
              <a:t>,</a:t>
            </a:r>
            <a:r>
              <a:rPr lang="en-US" dirty="0">
                <a:solidFill>
                  <a:schemeClr val="dk1"/>
                </a:solidFill>
                <a:latin typeface="Times New Roman" panose="02020603050405020304" pitchFamily="18" charset="0"/>
                <a:cs typeface="Times New Roman" panose="02020603050405020304" pitchFamily="18" charset="0"/>
              </a:rPr>
              <a:t> Smart Agriculture: IoT-based Greenhouse Monitoring System   International</a:t>
            </a:r>
          </a:p>
          <a:p>
            <a:pPr algn="just"/>
            <a:r>
              <a:rPr lang="en-US" dirty="0">
                <a:solidFill>
                  <a:schemeClr val="dk1"/>
                </a:solidFill>
                <a:latin typeface="Times New Roman" panose="02020603050405020304" pitchFamily="18" charset="0"/>
                <a:cs typeface="Times New Roman" panose="02020603050405020304" pitchFamily="18" charset="0"/>
              </a:rPr>
              <a:t>       journal of computers communications &amp; control  Online ISSN 1841-9844, ISSN-L 1841-9836,  </a:t>
            </a:r>
          </a:p>
          <a:p>
            <a:pPr algn="just"/>
            <a:r>
              <a:rPr lang="en-US" dirty="0">
                <a:solidFill>
                  <a:schemeClr val="dk1"/>
                </a:solidFill>
                <a:latin typeface="Times New Roman" panose="02020603050405020304" pitchFamily="18" charset="0"/>
                <a:cs typeface="Times New Roman" panose="02020603050405020304" pitchFamily="18" charset="0"/>
              </a:rPr>
              <a:t>       Volume: 17, Issue: 6, Month: December, Year: 2022</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 Israr </a:t>
            </a:r>
            <a:r>
              <a:rPr lang="en-IN" dirty="0" err="1">
                <a:latin typeface="Times New Roman" panose="02020603050405020304" pitchFamily="18" charset="0"/>
                <a:cs typeface="Times New Roman" panose="02020603050405020304" pitchFamily="18" charset="0"/>
              </a:rPr>
              <a:t>Ullah,Muhammad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Fayaz,Muhammad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Aman,DohyeunKim</a:t>
            </a:r>
            <a:r>
              <a:rPr lang="en-I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Toward autonomous farming—a novel scheme based</a:t>
            </a:r>
          </a:p>
          <a:p>
            <a:r>
              <a:rPr lang="en-US" dirty="0">
                <a:latin typeface="Times New Roman" panose="02020603050405020304" pitchFamily="18" charset="0"/>
                <a:cs typeface="Times New Roman" panose="02020603050405020304" pitchFamily="18" charset="0"/>
              </a:rPr>
              <a:t>      on learning to prediction and optimization for smart greenhouse environment control IEEE Internet of things journal,</a:t>
            </a:r>
          </a:p>
          <a:p>
            <a:r>
              <a:rPr lang="en-US" dirty="0">
                <a:latin typeface="Times New Roman" panose="02020603050405020304" pitchFamily="18" charset="0"/>
                <a:cs typeface="Times New Roman" panose="02020603050405020304" pitchFamily="18" charset="0"/>
              </a:rPr>
              <a:t>      Volume:9, NO. 24, 15 December 2022</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pPr algn="just"/>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035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B857-0AE9-77AA-38CC-9017E93D382C}"/>
              </a:ext>
            </a:extLst>
          </p:cNvPr>
          <p:cNvSpPr>
            <a:spLocks noGrp="1"/>
          </p:cNvSpPr>
          <p:nvPr>
            <p:ph type="title"/>
          </p:nvPr>
        </p:nvSpPr>
        <p:spPr>
          <a:xfrm>
            <a:off x="497840" y="384048"/>
            <a:ext cx="8123646" cy="651650"/>
          </a:xfrm>
        </p:spPr>
        <p:txBody>
          <a:bodyPr>
            <a:normAutofit/>
          </a:bodyPr>
          <a:lstStyle/>
          <a:p>
            <a:r>
              <a:rPr lang="en-US" sz="3200" b="1" dirty="0">
                <a:solidFill>
                  <a:srgbClr val="FF0000"/>
                </a:solidFill>
              </a:rPr>
              <a:t>                    </a:t>
            </a:r>
            <a:r>
              <a:rPr lang="en-US" sz="3200" b="1" dirty="0">
                <a:solidFill>
                  <a:srgbClr val="FF0000"/>
                </a:solidFill>
                <a:latin typeface="Times New Roman" panose="02020603050405020304" pitchFamily="18" charset="0"/>
                <a:cs typeface="Times New Roman" panose="02020603050405020304" pitchFamily="18" charset="0"/>
              </a:rPr>
              <a:t>COST OF PROJECT :</a:t>
            </a:r>
            <a:endParaRPr lang="en-IN" sz="32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C0E999C8-2F59-CEA9-1D0F-6BEA71FEF3C1}"/>
              </a:ext>
            </a:extLst>
          </p:cNvPr>
          <p:cNvGraphicFramePr>
            <a:graphicFrameLocks noGrp="1"/>
          </p:cNvGraphicFramePr>
          <p:nvPr>
            <p:extLst>
              <p:ext uri="{D42A27DB-BD31-4B8C-83A1-F6EECF244321}">
                <p14:modId xmlns:p14="http://schemas.microsoft.com/office/powerpoint/2010/main" val="1353874854"/>
              </p:ext>
            </p:extLst>
          </p:nvPr>
        </p:nvGraphicFramePr>
        <p:xfrm>
          <a:off x="1905933" y="1395174"/>
          <a:ext cx="8128000" cy="203382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512293653"/>
                    </a:ext>
                  </a:extLst>
                </a:gridCol>
                <a:gridCol w="4064000">
                  <a:extLst>
                    <a:ext uri="{9D8B030D-6E8A-4147-A177-3AD203B41FA5}">
                      <a16:colId xmlns:a16="http://schemas.microsoft.com/office/drawing/2014/main" val="1490659123"/>
                    </a:ext>
                  </a:extLst>
                </a:gridCol>
              </a:tblGrid>
              <a:tr h="479346">
                <a:tc>
                  <a:txBody>
                    <a:bodyPr/>
                    <a:lstStyle/>
                    <a:p>
                      <a:r>
                        <a:rPr lang="en-IN" dirty="0">
                          <a:solidFill>
                            <a:schemeClr val="bg1">
                              <a:lumMod val="50000"/>
                            </a:schemeClr>
                          </a:solidFill>
                        </a:rPr>
                        <a:t>                      Budget</a:t>
                      </a:r>
                    </a:p>
                  </a:txBody>
                  <a:tcPr/>
                </a:tc>
                <a:tc>
                  <a:txBody>
                    <a:bodyPr/>
                    <a:lstStyle/>
                    <a:p>
                      <a:r>
                        <a:rPr lang="en-IN" dirty="0"/>
                        <a:t>                   </a:t>
                      </a:r>
                      <a:r>
                        <a:rPr lang="en-IN" dirty="0">
                          <a:solidFill>
                            <a:schemeClr val="bg1">
                              <a:lumMod val="50000"/>
                            </a:schemeClr>
                          </a:solidFill>
                        </a:rPr>
                        <a:t>Amount</a:t>
                      </a:r>
                    </a:p>
                  </a:txBody>
                  <a:tcPr/>
                </a:tc>
                <a:extLst>
                  <a:ext uri="{0D108BD9-81ED-4DB2-BD59-A6C34878D82A}">
                    <a16:rowId xmlns:a16="http://schemas.microsoft.com/office/drawing/2014/main" val="1037736108"/>
                  </a:ext>
                </a:extLst>
              </a:tr>
              <a:tr h="1073822">
                <a:tc>
                  <a:txBody>
                    <a:bodyPr/>
                    <a:lstStyle/>
                    <a:p>
                      <a:pPr marL="342900" indent="-342900">
                        <a:buAutoNum type="alphaLcParenR"/>
                      </a:pPr>
                      <a:r>
                        <a:rPr lang="en-IN" dirty="0">
                          <a:latin typeface="Times New Roman" panose="02020603050405020304" pitchFamily="18" charset="0"/>
                          <a:cs typeface="Times New Roman" panose="02020603050405020304" pitchFamily="18" charset="0"/>
                        </a:rPr>
                        <a:t>Materials</a:t>
                      </a:r>
                    </a:p>
                    <a:p>
                      <a:pPr marL="342900" indent="-342900">
                        <a:buAutoNum type="alphaLcParenR"/>
                      </a:pPr>
                      <a:endParaRPr lang="en-IN" dirty="0">
                        <a:latin typeface="Times New Roman" panose="02020603050405020304" pitchFamily="18" charset="0"/>
                        <a:cs typeface="Times New Roman" panose="02020603050405020304" pitchFamily="18" charset="0"/>
                      </a:endParaRPr>
                    </a:p>
                    <a:p>
                      <a:pPr marL="342900" indent="-342900">
                        <a:buAutoNum type="alphaLcParenR"/>
                      </a:pPr>
                      <a:r>
                        <a:rPr lang="en-IN" dirty="0">
                          <a:latin typeface="Times New Roman" panose="02020603050405020304" pitchFamily="18" charset="0"/>
                          <a:cs typeface="Times New Roman" panose="02020603050405020304" pitchFamily="18" charset="0"/>
                        </a:rPr>
                        <a:t>Miscellaneous </a:t>
                      </a:r>
                    </a:p>
                    <a:p>
                      <a:pPr marL="342900" indent="-342900">
                        <a:buAutoNum type="alphaLcParenR"/>
                      </a:pP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          1000.00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500.00</a:t>
                      </a:r>
                    </a:p>
                  </a:txBody>
                  <a:tcPr/>
                </a:tc>
                <a:extLst>
                  <a:ext uri="{0D108BD9-81ED-4DB2-BD59-A6C34878D82A}">
                    <a16:rowId xmlns:a16="http://schemas.microsoft.com/office/drawing/2014/main" val="3269800285"/>
                  </a:ext>
                </a:extLst>
              </a:tr>
              <a:tr h="330407">
                <a:tc>
                  <a:txBody>
                    <a:bodyPr/>
                    <a:lstStyle/>
                    <a:p>
                      <a:r>
                        <a:rPr lang="en-IN" dirty="0">
                          <a:latin typeface="Times New Roman" panose="02020603050405020304" pitchFamily="18" charset="0"/>
                          <a:cs typeface="Times New Roman" panose="02020603050405020304" pitchFamily="18" charset="0"/>
                        </a:rPr>
                        <a:t>                   Total</a:t>
                      </a:r>
                    </a:p>
                  </a:txBody>
                  <a:tcPr/>
                </a:tc>
                <a:tc>
                  <a:txBody>
                    <a:bodyPr/>
                    <a:lstStyle/>
                    <a:p>
                      <a:r>
                        <a:rPr lang="en-IN" dirty="0">
                          <a:latin typeface="Times New Roman" panose="02020603050405020304" pitchFamily="18" charset="0"/>
                          <a:cs typeface="Times New Roman" panose="02020603050405020304" pitchFamily="18" charset="0"/>
                        </a:rPr>
                        <a:t>          1500.00</a:t>
                      </a:r>
                    </a:p>
                  </a:txBody>
                  <a:tcPr/>
                </a:tc>
                <a:extLst>
                  <a:ext uri="{0D108BD9-81ED-4DB2-BD59-A6C34878D82A}">
                    <a16:rowId xmlns:a16="http://schemas.microsoft.com/office/drawing/2014/main" val="1081241408"/>
                  </a:ext>
                </a:extLst>
              </a:tr>
            </a:tbl>
          </a:graphicData>
        </a:graphic>
      </p:graphicFrame>
    </p:spTree>
    <p:extLst>
      <p:ext uri="{BB962C8B-B14F-4D97-AF65-F5344CB8AC3E}">
        <p14:creationId xmlns:p14="http://schemas.microsoft.com/office/powerpoint/2010/main" val="2047435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6400" y="1859340"/>
            <a:ext cx="11379200" cy="1569660"/>
          </a:xfrm>
          <a:prstGeom prst="rect">
            <a:avLst/>
          </a:prstGeom>
          <a:noFill/>
        </p:spPr>
        <p:txBody>
          <a:bodyPr wrap="square" rtlCol="0">
            <a:spAutoFit/>
          </a:bodyPr>
          <a:lstStyle/>
          <a:p>
            <a:pPr algn="ctr"/>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336737859"/>
      </p:ext>
    </p:extLst>
  </p:cSld>
  <p:clrMapOvr>
    <a:masterClrMapping/>
  </p:clrMapOvr>
</p:sld>
</file>

<file path=ppt/theme/theme1.xml><?xml version="1.0" encoding="utf-8"?>
<a:theme xmlns:a="http://schemas.openxmlformats.org/drawingml/2006/main" name="tf34076243_win32">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076243_Blue spheres presentation_RVA_v5" id="{E4C0B511-76E7-4C07-AFEA-8FEA0A5A8C84}" vid="{3A463146-28EF-4F73-B63C-03710F66E2A3}"/>
    </a:ext>
  </a:extLst>
</a:theme>
</file>

<file path=ppt/theme/theme2.xml><?xml version="1.0" encoding="utf-8"?>
<a:theme xmlns:a="http://schemas.openxmlformats.org/drawingml/2006/main" name="Basis">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1577</TotalTime>
  <Words>1257</Words>
  <Application>Microsoft Office PowerPoint</Application>
  <PresentationFormat>Widescreen</PresentationFormat>
  <Paragraphs>198</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Corbel</vt:lpstr>
      <vt:lpstr>Times New Roman</vt:lpstr>
      <vt:lpstr>Wingdings</vt:lpstr>
      <vt:lpstr>tf34076243_win32</vt:lpstr>
      <vt:lpstr>Basis</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Advantages:</vt:lpstr>
      <vt:lpstr>PowerPoint Presentation</vt:lpstr>
      <vt:lpstr>Conclusion :</vt:lpstr>
      <vt:lpstr>PowerPoint Presentation</vt:lpstr>
      <vt:lpstr>                    COST OF PROJECT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Divay D Pujar</dc:creator>
  <cp:lastModifiedBy>harishrajoli6@gmail.com</cp:lastModifiedBy>
  <cp:revision>139</cp:revision>
  <dcterms:created xsi:type="dcterms:W3CDTF">2022-04-22T14:06:12Z</dcterms:created>
  <dcterms:modified xsi:type="dcterms:W3CDTF">2025-10-03T17:10:00Z</dcterms:modified>
</cp:coreProperties>
</file>